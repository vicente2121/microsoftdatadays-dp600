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90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7E88"/>
                </a:solidFill>
              </a:rPr>
              <a:t>DP-600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13F"/>
                </a:solidFill>
              </a:rPr>
              <a:t>Sesión 2 | Organización, artefactos y permisos en Fabric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2359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</a:rPr>
              <a:t>Presentación educativa para explicar los conceptos antes de la actividad final.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" y="3063240"/>
            <a:ext cx="4846320" cy="548640"/>
          </a:xfrm>
          <a:prstGeom prst="roundRect">
            <a:avLst>
              <a:gd name="adj" fmla="val 20000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23697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7E88"/>
                </a:solidFill>
              </a:rPr>
              <a:t>Microsoft Fabric Analytics Engineer Associate | DP-600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537960" y="1051560"/>
            <a:ext cx="4251960" cy="42519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blurRad="19050" dist="50800" dir="2700000" algn="bl" rotWithShape="0">
              <a:srgbClr val="AAB7C5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903720" y="16002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☁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🏢  🛡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📊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059168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13F"/>
                </a:solidFill>
              </a:rPr>
              <a:t>Organización · Artefactos · Permisos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9168" y="42519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7E88"/>
                </a:solidFill>
              </a:rPr>
              <a:t>Versión visual didáctica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Data Days Study Group DP-600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GUÍA PARA VIDEO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Cómo usar esta presentación educativa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Estructura para estudiar cada tema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5321808" cy="2926080"/>
          </a:xfrm>
          <a:prstGeom prst="roundRect">
            <a:avLst>
              <a:gd name="adj" fmla="val 4375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58952" y="1700784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58952" y="17647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3134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🎯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07592" y="1755648"/>
            <a:ext cx="4453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Objetivo de la sesión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67128" y="2194560"/>
            <a:ext cx="3538728" cy="2139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Explicar la organización de Fabric antes de la actividad final.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Diferenciar contenedores, artefactos, permisos y gobierno.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Relacionar cada tema con el dominio oficial DP-600.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Dejar una URL oficial por slide para estudio posterior.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6263640" y="1536192"/>
            <a:ext cx="5321808" cy="2926080"/>
          </a:xfrm>
          <a:prstGeom prst="roundRect">
            <a:avLst>
              <a:gd name="adj" fmla="val 4375"/>
            </a:avLst>
          </a:prstGeom>
          <a:solidFill>
            <a:srgbClr val="EAF3FF"/>
          </a:solidFill>
          <a:ln w="1397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428232" y="1700784"/>
            <a:ext cx="438912" cy="438912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28232" y="17647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3134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5BBE"/>
                </a:solidFill>
              </a:rPr>
              <a:t>🧭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76872" y="1755648"/>
            <a:ext cx="4453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Cómo estudiar cada tema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36408" y="2194560"/>
            <a:ext cx="3538728" cy="2139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Primero entender qué es el concepto.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Luego ubicar para qué sirve dentro de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Después conectar el punto con DP-600.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Cerrar la teoría con una aplicación guiada al final.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1143000" y="4892040"/>
            <a:ext cx="987552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C9D8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417320" y="518464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13F"/>
                </a:solidFill>
              </a:rPr>
              <a:t>Ruta didáctica: entender → ubicar → conectar con DP-600 → aplicar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Mapa oficial DP-600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MAPA DP-600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Dominios oficiales del examen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Dominios oficiales del examen usados en esta sesión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429000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  <a:effectLst>
            <a:outerShdw blurRad="12700" dist="50800" dir="2700000" algn="bl" rotWithShape="0">
              <a:srgbClr val="B9C6D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🧱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508760" y="1755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5BBE"/>
                </a:solidFill>
              </a:rPr>
              <a:t>Prepare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08760" y="2148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581912" y="2240280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5BBE"/>
                </a:solidFill>
              </a:rPr>
              <a:t>45-50%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13F"/>
                </a:solidFill>
              </a:rPr>
              <a:t>Temas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Stores, transformación, consultas y preparación.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13F"/>
                </a:solidFill>
              </a:rPr>
              <a:t>Enfoque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950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Elegir el artefacto correcto y preparar datos.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61688" y="1536192"/>
            <a:ext cx="3429000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5240">
            <a:solidFill>
              <a:srgbClr val="5B4A9E"/>
            </a:solidFill>
            <a:prstDash val="solid"/>
          </a:ln>
          <a:effectLst>
            <a:outerShdw blurRad="12700" dist="50800" dir="2700000" algn="bl" rotWithShape="0">
              <a:srgbClr val="B9C6D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590288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🧠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276088" y="1755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5B4A9E"/>
                </a:solidFill>
              </a:rPr>
              <a:t>Semantic models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276088" y="2148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349240" y="2240280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4A9E"/>
                </a:solidFill>
              </a:rPr>
              <a:t>25-30%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81728" y="26974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13F"/>
                </a:solidFill>
              </a:rPr>
              <a:t>Temas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1728" y="2971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Modelo semántico, medidas, relaciones y consumo.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1728" y="36758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13F"/>
                </a:solidFill>
              </a:rPr>
              <a:t>Enfoque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3950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Crear una capa de negocio confiable.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29016" y="1536192"/>
            <a:ext cx="3429000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  <a:effectLst>
            <a:outerShdw blurRad="12700" dist="50800" dir="2700000" algn="bl" rotWithShape="0">
              <a:srgbClr val="B9C6D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357616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🛡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9043416" y="1755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E88"/>
                </a:solidFill>
              </a:rPr>
              <a:t>Maintain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43416" y="2148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EF6FF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9116568" y="2240280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7E88"/>
                </a:solidFill>
              </a:rPr>
              <a:t>25-30%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49056" y="26974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13F"/>
                </a:solidFill>
              </a:rPr>
              <a:t>Temas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49056" y="2971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Seguridad, permisos, gobierno, ALM, linaje.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49056" y="36758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213F"/>
                </a:solidFill>
              </a:rPr>
              <a:t>Enfoque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49056" y="3950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Administrar y proteger la solución.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97280" y="5074920"/>
            <a:ext cx="9966960" cy="777240"/>
          </a:xfrm>
          <a:prstGeom prst="roundRect">
            <a:avLst>
              <a:gd name="adj" fmla="val 14118"/>
            </a:avLst>
          </a:prstGeom>
          <a:solidFill>
            <a:srgbClr val="FFF8E7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1417320" y="5276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8700"/>
                </a:solidFill>
              </a:rPr>
              <a:t>Nota de estudio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88920" y="527608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El porcentaje corresponde al dominio oficial: sirve para priorizar estudio, no para medir una diapositiva.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Skills measured oficial DP-600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B7E88"/>
                </a:solidFill>
              </a:rPr>
              <a:t>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72768" y="1170432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0213F"/>
                </a:solidFill>
              </a:rPr>
              <a:t>Conceptos base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91056" y="205740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Primero se entiende donde vive cada cosa: tenant, capacity, domain, workspace e item.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360" y="2852928"/>
            <a:ext cx="7498080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965960" y="301752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3794760"/>
            <a:ext cx="7223760" cy="621792"/>
          </a:xfrm>
          <a:prstGeom prst="roundRect">
            <a:avLst>
              <a:gd name="adj" fmla="val 20588"/>
            </a:avLst>
          </a:prstGeom>
          <a:solidFill>
            <a:srgbClr val="0B7E88">
              <a:alpha val="95000"/>
            </a:srgbClr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965960" y="4005072"/>
            <a:ext cx="6720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Tenant → Capacity → Domain → Workspace → Item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Data Days Study Group DP-600 | Sesión 2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CONCEPTOS BASE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Tenant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Límite organizativo y políticas globales de Fabric.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🏢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el límite organizativo donde se aplican identidades, políticas y configuración global.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Se relaciona con Microsoft Entra ID y con la administración central de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Define reglas que pueden afectar a todos los workspaces e items.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controlar quién puede crear, compartir, exportar o usar capacidades de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Evita que cada workspace se gobierne de forma aislada.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la primera capa de seguridad y gobierno de una solución analítica.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Tenant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Límite organizativo y políticas globales de Fabric.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Si una acción esta bloqueada, puede deberse a u…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Si una acción esta bloqueada, puede deberse a una configuración de tenant.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Si una acción esta bloqueada, puede deberse a una configuración de tenant.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conecta con gobierno, seguridad y administración del entorno.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https://learn.microsoft.com/en-us/fabric/admin/service-admin-portal-microsoft-fabric-tenant-settings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CONCEPTOS BASE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Capacity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Recursos que ejecutan las experiencias de Fabric.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Relacionado con Maintain (25-30%) y rendimiento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el conjunto de recursos de cómputo que ejecuta las experiencias y cargas de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No es un workspace ni un item: es la base de rendimiento y disponibilidad.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Puede afectar cargas de datos, modelos, consultas, notebooks, pipelines y reportes.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a planificar rendimiento, concurrencia, costos y aislamiento de cargas.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separar ambientes o cargas críticas de pruebas y desarrollo.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Explica por qué una solución puede fallar aunque el modelo o el reporte estén bien.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Capacity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Recursos que ejecutan las experiencias de Fabric.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Capacidad responde a la pregunta: con qué recur…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Capacidad responde a la pregunta: con qué recursos se ejecuta la solución.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Capacidad responde a la pregunta: con qué recursos se ejecuta la solución.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la relaciona con mantenimiento, operación y rendimiento.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Relacionado con Maintain (25-30%) y rendimiento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https://learn.microsoft.com/en-us/fabric/enterprise/licenses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CONCEPTOS BASE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Domain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Agrupación de datos y workspaces por área de negocio.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🌐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una agrupacion lógica de workspaces e items por área o responsabilidad de negocio.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Sirve para organizar el data estate y delegar ownership de forma comprensible.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No sustituye permisos: complementa el gobierno y descubrimiento.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Facilita encontrar datos confiables dentro de una organización grande.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a separar responsabilidades entre áreas de negocio y equipos técnicos.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Mejora la administración de contenido cuando existen muchos workspaces.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Domain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Agrupación de datos y workspaces por área de negoci…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Dominio organiza; roles y permisos autorizan.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Dominio organiza; roles y permisos autorizan.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Dominio organiza; roles y permisos autorizan.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ubica dentro de gobierno y mantenimiento de soluciones analíticas.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https://learn.microsoft.com/en-us/fabric/governance/domains</a:t>
            </a:r>
            <a:endParaRPr lang="en-US" sz="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CONCEPTOS BASE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Workspace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Contenedor de colaboración para items Fabric.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🧩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el contenedor colaborativo donde viven los items de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Define una frontera importante de colaboración, roles y ciclo de vida.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Puede representar un área, un producto de datos o un ambiente de trabajo.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Agrupa lakehouses, warehouses, modelos, reportes, pipelines y otros items.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asignar roles de trabajo como Admin, Member, Contributor y Viewer.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a separar desarrollo, validación y producción cuando se diseña ALM.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Workspace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Contenedor de colaboración para items Fabric.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Workspace no es lo mismo que item ni que domini…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Workspace no es lo mismo que item ni que dominio.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Workspace no es lo mismo que item ni que dominio.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pregunta por permisos, colaboración y administración a nivel workspace.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https://learn.microsoft.com/en-us/fabric/fundamentals/workspaces</a:t>
            </a:r>
            <a:endParaRPr lang="en-US" sz="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CONCEPTOS BASE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Item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Artefacto concreto dentro de un workspace.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📦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 artefacto concreto dentro de un workspace.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Puede ser un lakehouse, warehouse, dataflow, pipeline, notebook, modelo o reporte.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Cada item tiene propósito, permisos, linaje y ciclo de vida propio.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proteger y compartir artefactos específicos sin abrir todo el workspace.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a entender que no todos los activos tienen el mismo tipo de acceso.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la unidad sobre la que se aplican acciones como compartir, certificar o analizar impacto.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Item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Artefacto concreto dentro de un workspace.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Workspace contiene; item realiza una funcion co…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Workspace contiene; item realiza una funcion concreta.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Workspace contiene; item realiza una funcion concreta.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distingue permisos de workspace y permisos de item.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https://learn.microsoft.com/en-us/fabric/fundamentals/create-items-in-workspaces</a:t>
            </a:r>
            <a:endParaRPr lang="en-US" sz="5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E5BBE"/>
                </a:solidFill>
              </a:rPr>
              <a:t>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72768" y="1170432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0213F"/>
                </a:solidFill>
              </a:rPr>
              <a:t>Artefactos y transformación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91056" y="205740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Luego se explica que artefacto sirve para almacenar, preparar u orquestar datos.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360" y="2852928"/>
            <a:ext cx="7498080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965960" y="301752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5BBE"/>
                </a:solidFill>
              </a:rPr>
              <a:t>Prepare data (45-50%)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3794760"/>
            <a:ext cx="7223760" cy="621792"/>
          </a:xfrm>
          <a:prstGeom prst="roundRect">
            <a:avLst>
              <a:gd name="adj" fmla="val 20588"/>
            </a:avLst>
          </a:prstGeom>
          <a:solidFill>
            <a:srgbClr val="1E5BBE">
              <a:alpha val="95000"/>
            </a:srgbClr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965960" y="4005072"/>
            <a:ext cx="6720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Almacenar → Preparar → Transformar → Orquestar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Data Days Study Group DP-600 | Sesión 2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ARTEFACTOS DE DATOS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Lakehouse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Datos en OneLake con archivos, tablas Delta y Spark/SQL.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Prepare data (45-50%)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AF3FF"/>
          </a:solidFill>
          <a:ln w="1397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5BBE"/>
                </a:solidFill>
              </a:rPr>
              <a:t>🏞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 almacén analítico basado en OneLake para archivos, carpetas y tablas Delta.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trabajar con datos estructurados y no estructurados usando experiencias de ingenieria.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Combina capacidades de data lake con tablas consultables para analítica.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Sirve para ingesta, exploracion, preparación y transformación de datos a escala.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usar Spark, SQL endpoint y otros componentes de Fabric sobre la misma base.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común en arquitecturas medallion o capas de preparación de datos.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5BBE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Lakehouse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AF3FF"/>
          </a:solidFill>
          <a:ln w="1524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5BBE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Datos en OneLake con archivos, tablas Delta y Spark…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Lakehouse responde a preparación flexible de da…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5BBE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E5BBE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Lakehouse responde a preparación flexible de datos en OneLake.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Lakehouse responde a preparación flexible de datos en OneLake.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vincula con Prepare data, transformaciones y elección del store correcto.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Prepare data (45-50%)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https://learn.microsoft.com/en-us/fabric/data-engineering/lakehouse-overview</a:t>
            </a:r>
            <a:endParaRPr lang="en-US" sz="5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ARTEFACTOS DE DATOS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Warehouse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Motor relacional SQL para datos curados y modelo dimensional.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Prepare data (45-50%)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AF3FF"/>
          </a:solidFill>
          <a:ln w="1397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5BBE"/>
                </a:solidFill>
              </a:rPr>
              <a:t>🏛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 almacén relacional para analítica SQL dentro de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Está orientado a tablas, esquemas, consultas SQL y modelos dimensionales.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Encaja cuando se necesita una capa curada con estructura relacional clara.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Facilita crear data marts, vistas, hechos y dimensiones para consumo analítico.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a perfiles SQL trabajar con patrones conocidos de data warehousing.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Sirve como base gobernada para modelos semánticos y reportes.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5BBE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Warehouse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AF3FF"/>
          </a:solidFill>
          <a:ln w="1524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5BBE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Motor relacional SQL para datos curados y modelo di…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Warehouse se piensa como capa relacional curada.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5BBE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E5BBE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Warehouse se piensa como capa relacional curada.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Warehouse se piensa como capa relacional curada.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puede evaluar la elección entre lakehouse, warehouse y otros stores.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Prepare data (45-50%)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https://learn.microsoft.com/en-us/fabric/data-warehouse/data-warehousing</a:t>
            </a:r>
            <a:endParaRPr lang="en-US" sz="5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ARTEFACTOS DE DATOS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Eventhouse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Eventos, logs, telemetría y consultas KQL.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Prepare data (45-50%)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AF3FF"/>
          </a:solidFill>
          <a:ln w="1397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5BBE"/>
                </a:solidFill>
              </a:rPr>
              <a:t>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 almacén orientado a eventos, logs, telemetría y datos de alta frecuencia.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Usa KQL para explorar y consultar información temporal o semiestructurada.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Pertenece a la experiencia de Real-Time Intelligence en Fabric.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analizar eventos operativos sin forzarlos a un modelo relacional clásico.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cuando importan series temporales, patrones, actividad reciente o telemetría.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Complementa lakehouse y warehouse cuando la naturaleza del dato es de eventos.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5BBE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Eventhouse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AF3FF"/>
          </a:solidFill>
          <a:ln w="1524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5BBE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Eventos, logs, telemetría y consultas KQL.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Eventhouse responde a análisis de eventos y KQL.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5BBE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E5BBE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Eventhouse responde a análisis de eventos y KQL.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Eventhouse responde a análisis de eventos y KQL.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relaciona con elegir el store correcto y consultar datos en Fabric.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Prepare data (45-50%)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https://learn.microsoft.com/en-us/fabric/real-time-intelligence/eventhouse</a:t>
            </a:r>
            <a:endParaRPr lang="en-US" sz="5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TRANSFORMACIÓN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Dataflow Gen2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Transformación low-code con Power Query.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FF8E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Prepare data (45-50%)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</a:rPr>
              <a:t>〽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una experiencia de preparación y transformación low-code basada en Power Query.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conectar, limpiar, combinar y cargar datos hacia destinos de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Está pensada para transformaciones repetibles con una interfaz visual.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Acerca la preparación de datos a usuarios que conocen Power Query.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Reduce código cuando la lógica de limpieza es tabular y declarativa.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Sirve para estandarizar procesos de ingesta y limpieza simples o medianos.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Dataflow Gen2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8E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Transformación low-code con Power Query.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Dataflow Gen2 transforma; Pipeline orquesta.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7706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D97706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Dataflow Gen2 transforma; Pipeline orquesta.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Dataflow Gen2 transforma; Pipeline orquesta.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ubica en Prepare data y transformación de datos.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Prepare data (45-50%)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D97706"/>
                </a:solidFill>
              </a:rPr>
              <a:t>https://learn.microsoft.com/en-us/fabric/data-factory/dataflows-gen2-overview</a:t>
            </a:r>
            <a:endParaRPr lang="en-US" sz="5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TRANSFORMACIÓN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Pipeline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Orquestacion de actividades y dependencias.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FF8E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Prepare data (45-50%) y Maintain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</a:rPr>
              <a:t>🔁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 artefacto de orquestación para ejecutar actividades en orden o bajo condiciones.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Coordina ingesta, transformaciones, notebooks, dataflows y otros pasos.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programar, parametrizar y monitorear procesos.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Convierte pasos manuales en procesos repetibles y observables.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a controlar dependencias entre tareas de datos.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Conecta preparación de datos con operación y mantenimiento.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Pipeline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8E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Orquestacion de actividades y dependencias.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Pipeline no transforma por sí solo todo el dato…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7706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D97706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Pipeline no transforma por sí solo todo el dato: coordina actividades.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Pipeline no transforma por sí solo todo el dato: coordina actividades.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conecta con Prepare data y Maintain.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Prepare data (45-50%) y Maintain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D97706"/>
                </a:solidFill>
              </a:rPr>
              <a:t>https://learn.microsoft.com/en-us/fabric/data-factory/pipeline-overview</a:t>
            </a:r>
            <a:endParaRPr lang="en-US" sz="5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TRANSFORMACIÓN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Notebook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código Spark/Python/SQL para lógica avanzada.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FF8E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Prepare data (45-50%)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</a:rPr>
              <a:t>⌨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 entorno de código para trabajar con Spark, Python, SQL y otros lenguajes soportados.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documentar, ejecutar y versionar lógica técnica de preparación o análisis.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Se usa cuando la transformación requiere código o procesamiento avanzado.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Da flexibilidad para reglas complejas, pruebas, exploracion y procesamiento distribuido.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Puede integrarse con lakehouses y pipelines para flujos repetibles.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a explicar la diferencia entre low-code y code-first en Fabric.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Notebook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8E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código Spark/Python/SQL para lógica avanzada.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Notebook es potente, pero debe gobernarse y orq…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FFF8E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97706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D97706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Notebook es potente, pero debe gobernarse y orquestarse.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Notebook es potente, pero debe gobernarse y orquestarse.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asocia con preparación avanzada y transformación de datos.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Prepare data (45-50%)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D97706"/>
                </a:solidFill>
              </a:rPr>
              <a:t>https://learn.microsoft.com/en-us/fabric/data-engineering/how-to-use-notebook</a:t>
            </a:r>
            <a:endParaRPr lang="en-US" sz="5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5B4A9E"/>
                </a:solidFill>
              </a:rPr>
              <a:t>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72768" y="1170432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0213F"/>
                </a:solidFill>
              </a:rPr>
              <a:t>Modelo y consumo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91056" y="205740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Después se conecta la capa de datos con la capa de negocio y consumo.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360" y="2852928"/>
            <a:ext cx="7498080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965960" y="301752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Implement and manage semantic models (25-30%)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3794760"/>
            <a:ext cx="7223760" cy="621792"/>
          </a:xfrm>
          <a:prstGeom prst="roundRect">
            <a:avLst>
              <a:gd name="adj" fmla="val 20588"/>
            </a:avLst>
          </a:prstGeom>
          <a:solidFill>
            <a:srgbClr val="5B4A9E">
              <a:alpha val="95000"/>
            </a:srgbClr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965960" y="4005072"/>
            <a:ext cx="6720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Datos → Modelo semántico → Reporte/App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Data Days Study Group DP-600 | Sesión 2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5B4A9E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MODELO Y CONSUMO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Modelo semántico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Capa de negocio con relaciones, medidas y seguridad.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Implement and manage semantic models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4A9E"/>
                </a:solidFill>
              </a:rPr>
              <a:t>🧠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la capa que traduce datos técnicos en entidades, relaciones, medidas y reglas de negocio.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 reutilizar metricas y definiciones en varios reportes.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Incluye aspectos como relaciones, DAX, seguridad, modo de almacenamiento y rendimiento.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Evita que cada reporte defina sus propios KPIs de forma diferente.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Centraliza la lógica de negocio para análisis confiable.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uno de los dominios principales del examen DP-600.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Modelo semántico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2EE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Capa de negocio con relaciones, medidas y seguridad.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El modelo semántico es más que un dataset: es l…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B4A9E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5B4A9E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El modelo semántico es más que un dataset: es la capa de negocio reutilizable.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El modelo semántico es más que un dataset: es la capa de negocio reutilizable.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dedica 25-30% a implementarlo y administrarlo.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Implement and manage semantic models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5B4A9E"/>
                </a:solidFill>
              </a:rPr>
              <a:t>https://learn.microsoft.com/en-us/fabric/data-warehouse/semantic-models</a:t>
            </a:r>
            <a:endParaRPr lang="en-US" sz="5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MODELO Y CONSUMO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Reporte y app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Entrega de visuales a usuarios finales.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Semantic models (25-30%) y Maintain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4A9E"/>
                </a:solidFill>
              </a:rPr>
              <a:t>📊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El reporte es la experiencia visual donde el usuario explora indicadores y preguntas de negocio.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La app permite distribuir contenido aprobado a una audiencia controlada.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Deben apoyarse en modelos confiables y no duplicar lógica innecesaria.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Separan el consumo de datos del desarrollo técnico.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Ayudan a entregar información con permisos adecuados y experiencia coherente.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Permiten publicar contenido sin dar acceso de edicion a los consumidores.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Reporte y app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2EE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Entrega de visuales a usuarios finales.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Reporte consume; modelo define; app distribuye.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B4A9E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5B4A9E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Reporte consume; modelo define; app distribuye.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Reporte consume; modelo define; app distribuye.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conecta con consumo, permisos y mantenimiento del contenido.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Semantic models (25-30%) y Maintain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5B4A9E"/>
                </a:solidFill>
              </a:rPr>
              <a:t>https://learn.microsoft.com/en-us/fabric/data-warehouse/create-reports</a:t>
            </a:r>
            <a:endParaRPr lang="en-US" sz="5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E7B43"/>
                </a:solidFill>
              </a:rPr>
              <a:t>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72768" y="1170432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0213F"/>
                </a:solidFill>
              </a:rPr>
              <a:t>Entornos, roles y permisos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91056" y="205740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Ahora se controla quién construye, valida, administra y consume contenido.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360" y="2852928"/>
            <a:ext cx="7498080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965960" y="301752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Maintain a data analytics solution (25-30%)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3794760"/>
            <a:ext cx="7223760" cy="621792"/>
          </a:xfrm>
          <a:prstGeom prst="roundRect">
            <a:avLst>
              <a:gd name="adj" fmla="val 20588"/>
            </a:avLst>
          </a:prstGeom>
          <a:solidFill>
            <a:srgbClr val="1E7B43">
              <a:alpha val="95000"/>
            </a:srgbClr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965960" y="4005072"/>
            <a:ext cx="6720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Dev → Test/UAT → Prod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Data Days Study Group DP-600 | Sesión 2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7B43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7B43"/>
                </a:solidFill>
              </a:rPr>
              <a:t>ENTORNOS Y ALM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Dev, Test/UAT y Prod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Separacion para construir, validar y publicar.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AF7ED"/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7B43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AF7ED"/>
          </a:solidFill>
          <a:ln w="1397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1E7B43"/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7B43"/>
                </a:solidFill>
              </a:rPr>
              <a:t>🚦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7B43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Son ambientes separados para construir, validar y publicar contenido.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Ayudan a proteger producción de cambios incompletos o no probados.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Se relacionan con deployment pipelines y ciclo de vida de desarrollo.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Permiten revisar datos, permisos, modelos y reportes antes de publicar.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Reducen riesgos al aplicar cambios de forma controlada.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Facilitan separar roles de creacion, validación y consumo.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1E7B43"/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7B43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Dev, Test/UAT y Prod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AF7ED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Separacion para construir, validar y publicar.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ALM no es decorativo: protege la solución analí…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1E7B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1E7B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AF7ED"/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7B43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E7B43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ALM no es decorativo: protege la solución analítica.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ALM no es decorativo: protege la solución analítica.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incluye deployment pipelines, versionado y mantenimiento.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7B43"/>
                </a:solidFill>
              </a:rPr>
              <a:t>https://learn.microsoft.com/en-us/fabric/cicd/deployment-pipelines/intro-to-deployment-pipelines</a:t>
            </a:r>
            <a:endParaRPr lang="en-US" sz="5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7B43"/>
                </a:solidFill>
              </a:rPr>
              <a:t>ENTORNOS Y ALM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Git y PBIP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Versionado y ciclo de vida de desarrollo.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AF7ED"/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E7B43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AF7ED"/>
          </a:solidFill>
          <a:ln w="1397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1E7B43"/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7B43"/>
                </a:solidFill>
              </a:rPr>
              <a:t>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7B43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Git permite versionar cambios y colaborar sobre archivos del proyecto.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PBIP representa proyectos Power BI en estructura de archivos compatible con desarrollo.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La integracion con Git ayuda a revisar, auditar y recuperar cambios.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Aporta trazabilidad a modelos, reportes y configuraciones soportadas.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Facilita trabajo colaborativo con revisiones y control de versiones.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Conecta Fabric con enfoques modernos de desarrollo.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1E7B43"/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7B43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Git y PBIP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AF7ED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Versionado y ciclo de vida de desarrollo.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Versionar no reemplaza probar: complementa ALM.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1E7B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1E7B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AF7ED"/>
          </a:solidFill>
          <a:ln w="1270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7B43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E7B43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Versionar no reemplaza probar: complementa ALM.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Versionar no reemplaza probar: complementa ALM.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relaciona con lifecycle management y despliegue.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7B43"/>
                </a:solidFill>
              </a:rPr>
              <a:t>https://learn.microsoft.com/en-us/fabric/cicd/git-integration/intro-to-git-integration</a:t>
            </a:r>
            <a:endParaRPr lang="en-US" sz="5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ROLES Y PERMISOS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Roles de workspace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Admin, Member, Contributor y Viewer.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4A9E"/>
                </a:solidFill>
              </a:rPr>
              <a:t>🧩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Son niveles de colaboración dentro de un workspace.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Los roles principales son Admin, Member, Contributor y Viewer.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Determinan que puede hacer una persona sobre el contenedor y sus items.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Permiten asignar responsabilidades sin dar más privilegios de los necesarios.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Separan administración, edicion, contribucion y consumo.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Son la primera decisión visible de seguridad en un workspace.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Roles de workspace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2EE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Admin, Member, Contributor y Viewer.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No todo consumidor necesita rol dentro del work…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B4A9E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5B4A9E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No todo consumidor necesita rol dentro del workspace.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No todo consumidor necesita rol dentro del workspace.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evalúa mínimo privilegio y selección correcta de roles.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5B4A9E"/>
                </a:solidFill>
              </a:rPr>
              <a:t>https://learn.microsoft.com/en-us/fabric/fundamentals/roles-workspaces</a:t>
            </a:r>
            <a:endParaRPr lang="en-US" sz="5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ROLES Y PERMISOS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Permisos de item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Compartir un artefacto sin abrir todo el workspace.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4A9E"/>
                </a:solidFill>
              </a:rPr>
              <a:t>📦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Son permisos aplicados a un artefacto especifico de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Permiten compartir contenido concreto sin abrir todo el workspace.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Pueden coexistir con roles de workspace y otros controles de datos.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Reducen exposicion cuando el usuario solo necesita un item puntual.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Ayudan a separar colaboración interna de consumo externo o amplio.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Son clave para explicar item-level access.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Permisos de item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2EE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Compartir un artefacto sin abrir todo el workspace.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Workspace access e item access no son lo mismo.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B4A9E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5B4A9E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Workspace access e item access no son lo mismo.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Workspace access e item access no son lo mismo.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mide controles de acceso a nivel workspace e item.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5B4A9E"/>
                </a:solidFill>
              </a:rPr>
              <a:t>https://learn.microsoft.com/en-us/fabric/fundamentals/share-items</a:t>
            </a:r>
            <a:endParaRPr lang="en-US" sz="5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ROLES Y PERMISOS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Read, ReadData y ReadAll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Diferencia entre ver item y leer datos.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4A9E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4A9E"/>
                </a:solidFill>
              </a:rPr>
              <a:t>👁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Son permisos que diferencian ver un item, leer datos y leer datos con mayor alcance.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Ayudan a separar experiencia visual de acceso directo a información subyacente.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Deben entenderse junto con roles, RLS, OLS y permisos SQL.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Evitan asumir que abrir un reporte equivale a consultar toda la información.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Permiten controlar distintos niveles de acceso a datos.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Son esenciales para seguridad granular en Fabric.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5B4A9E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B4A9E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Read, ReadData y ReadAll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2EEFF"/>
          </a:solidFill>
          <a:ln w="1524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4A9E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Diferencia entre ver item y leer datos.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Ver contenido y leer datos no siempre significa…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5B4A9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F2EEFF"/>
          </a:solidFill>
          <a:ln w="1270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B4A9E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5B4A9E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Ver contenido y leer datos no siempre significan lo mismo.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Ver contenido y leer datos no siempre significan lo mismo.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relaciona con permission model y seguridad.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5B4A9E"/>
                </a:solidFill>
              </a:rPr>
              <a:t>https://learn.microsoft.com/en-us/fabric/security/permission-model</a:t>
            </a:r>
            <a:endParaRPr lang="en-US" sz="5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B7E88"/>
                </a:solidFill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72768" y="1170432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0213F"/>
                </a:solidFill>
              </a:rPr>
              <a:t>Gobierno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91056" y="205740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Finalmente se asegura confianza: sensibilidad, certificación, linaje y propietarios.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360" y="2852928"/>
            <a:ext cx="7498080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965960" y="301752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3794760"/>
            <a:ext cx="7223760" cy="621792"/>
          </a:xfrm>
          <a:prstGeom prst="roundRect">
            <a:avLst>
              <a:gd name="adj" fmla="val 20588"/>
            </a:avLst>
          </a:prstGeom>
          <a:solidFill>
            <a:srgbClr val="0B7E88">
              <a:alpha val="95000"/>
            </a:srgbClr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965960" y="4005072"/>
            <a:ext cx="6720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Clasificar → Certificar → Trazar → Asignar owners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Data Days Study Group DP-600 | Sesión 2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GOBIERNO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Sensibilidad y protección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Etiquetas y controles para datos confidenciales.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🏷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Las etiquetas de sensibilidad clasifican contenido según nivel de confidencialidad.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Ayudan a proteger información cuando se usa, comparte o exporta.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Forman parte del enfoque de cumplimiento y gobierno de datos.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Hacen visible el nivel de riesgo de un item o dato.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Complementan permisos, políticas y controles de acceso.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Ayudan a que los usuarios traten la información de forma adecuada.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Sensibilidad y protección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Etiquetas y controles para datos confidenciales.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Etiqueta no reemplaza permiso: lo complementa.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Etiqueta no reemplaza permiso: lo complementa.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Etiqueta no reemplaza permiso: lo complementa.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incluye sensibilidad dentro de seguridad y gobierno.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https://learn.microsoft.com/en-us/fabric/enterprise/powerbi/service-security-sensitivity-label-overview</a:t>
            </a:r>
            <a:endParaRPr lang="en-US" sz="5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GOBIERNO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Endorsement y certificación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Promoted, Certified y confianza del contenido.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✅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Endorsement permite marcar contenido como promovido o certificado.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Sirve para indicar confianza, calidad o aprobación organizacional.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No es un mecanismo de seguridad, sino una señal de gobierno.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a los usuarios a encontrar contenido confiable.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Reduce duplicacion cuando existen muchos modelos o reportes parecidos.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Ordena el consumo de datos en organizaciones con muchos activos.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Endorsement y certificación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Promoted, Certified y confianza del contenido.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Promoted y Certified indican confianza, no conc…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Promoted y Certified indican confianza, no conceden acceso.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Promoted y Certified indican confianza, no conceden acceso.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conecta con gobierno, descubrimiento y calidad del contenido.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https://learn.microsoft.com/en-us/fabric/governance/endorsement-overview</a:t>
            </a:r>
            <a:endParaRPr lang="en-US" sz="5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GOBIERNO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Linaje e impacto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Dependencias antes de cambiar o eliminar items.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🕸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Linaje muestra relaciones entre fuentes, items, modelos y reportes.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Impact analysis permite ver qué podría afectarse por un cambio.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Es una herramienta de gobierno para entender dependencias.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Evita romper reportes o modelos sin identificar consumidores afectados.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Ayuda a planificar cambios con trazabilidad.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Facilita auditoria y comprensión del flujo de datos.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Linaje e impacto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Dependencias antes de cambiar o eliminar items.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Antes de cambiar o eliminar, revisar dependenci…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Antes de cambiar o eliminar, revisar dependencias.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Antes de cambiar o eliminar, revisar dependencias.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incluye impact analysis y downstream dependencies.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https://learn.microsoft.com/en-us/fabric/governance/lineage</a:t>
            </a:r>
            <a:endParaRPr lang="en-US" sz="5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GOBIERNO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Propietarios técnico y funcional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Responsabilidades claras para cada activo.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55280" y="502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92440" y="594360"/>
            <a:ext cx="32918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E88"/>
                </a:solidFill>
              </a:rPr>
              <a:t>Maintain a data analytics solution (25-30%)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667512" y="1645920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" y="17099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585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👤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6152" y="1700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1  ¿Qué es?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213969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El owner técnico responde por operación, mantenimiento y salud del artefacto.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El owner funcional responde por significado, definiciones y validez de negocio.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Ambos roles ayudan a sostener gobierno real.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7512" y="3749040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7512" y="3813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⚙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16152" y="38039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2  ¿Para qué sirve en Fabric?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75688" y="4242816"/>
            <a:ext cx="3566160" cy="10881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Evitan activos sin responsable claro.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Separan responsabilidad técnica de decisión de negocio.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Facilitan soporte, aprobación de cambios y control de acceso.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5559552" cy="2706624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3970">
            <a:solidFill>
              <a:srgbClr val="B6D0EF"/>
            </a:solidFill>
            <a:prstDash val="solid"/>
          </a:ln>
          <a:effectLst>
            <a:outerShdw blurRad="12700" dist="50800" dir="2700000" algn="bl" rotWithShape="0">
              <a:srgbClr val="CAD8E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99632" y="1572768"/>
            <a:ext cx="502920" cy="502920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16459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Diagrama explicativo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55664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Concepto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Propietarios técnico y funcional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0456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E8F8F7"/>
          </a:solidFill>
          <a:ln w="1524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311896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7E88"/>
                </a:solidFill>
              </a:rPr>
              <a:t>Rol en Fabric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30184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Responsabilidades claras para cada activo.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10076688" y="2194560"/>
            <a:ext cx="1472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240">
            <a:solidFill>
              <a:srgbClr val="1E7B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168128" y="240487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43"/>
                </a:solidFill>
              </a:rPr>
              <a:t>Clave DP-600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86416" y="2679192"/>
            <a:ext cx="12527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F2937"/>
                </a:solidFill>
              </a:rPr>
              <a:t>Gobierno requiere responsabilidades visibles.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900416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9756648" y="2651760"/>
            <a:ext cx="274320" cy="0"/>
          </a:xfrm>
          <a:prstGeom prst="line">
            <a:avLst/>
          </a:prstGeom>
          <a:noFill/>
          <a:ln w="25400">
            <a:solidFill>
              <a:srgbClr val="0B7E8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3319272"/>
            <a:ext cx="5047488" cy="658368"/>
          </a:xfrm>
          <a:prstGeom prst="roundRect">
            <a:avLst>
              <a:gd name="adj" fmla="val 16667"/>
            </a:avLst>
          </a:prstGeom>
          <a:solidFill>
            <a:srgbClr val="E8F8F7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B7E88"/>
                </a:solidFill>
              </a:rPr>
              <a:t>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49440" y="3447288"/>
            <a:ext cx="446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7E88"/>
                </a:solidFill>
              </a:rPr>
              <a:t>Idea clave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949440" y="36667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</a:rPr>
              <a:t>Gobierno requiere responsabilidades visibles.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108192" y="4407408"/>
            <a:ext cx="5559552" cy="1051560"/>
          </a:xfrm>
          <a:prstGeom prst="roundRect">
            <a:avLst>
              <a:gd name="adj" fmla="val 12174"/>
            </a:avLst>
          </a:prstGeom>
          <a:solidFill>
            <a:srgbClr val="F2EEFF"/>
          </a:solidFill>
          <a:ln w="13970">
            <a:solidFill>
              <a:srgbClr val="5B4A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355080" y="4572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5B4A9E"/>
                </a:solidFill>
              </a:rPr>
              <a:t>4  ¿Qué recordar para DP-600?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92240" y="4864608"/>
            <a:ext cx="4800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Gobierno requiere responsabilidades visibles.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• DP-600 lo conecta con mantenimiento y administración de soluciones analíticas.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0B7E88"/>
                </a:solidFill>
              </a:rPr>
              <a:t>https://learn.microsoft.com/en-us/fabric/governance/governance-compliance-overview</a:t>
            </a:r>
            <a:endParaRPr lang="en-US" sz="5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E5BBE"/>
                </a:solidFill>
              </a:rPr>
              <a:t>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72768" y="1170432"/>
            <a:ext cx="9098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0213F"/>
                </a:solidFill>
              </a:rPr>
              <a:t>Caso práctico final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91056" y="205740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El caso aparece al final para aplicar los conceptos ya explicados durante la sesión.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360" y="2852928"/>
            <a:ext cx="7498080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524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965960" y="3017520"/>
            <a:ext cx="7040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5BBE"/>
                </a:solidFill>
              </a:rPr>
              <a:t>Cruza Prepare (45-50%), Semantic (25-30%) y Maintain (25-30%)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3794760"/>
            <a:ext cx="7223760" cy="621792"/>
          </a:xfrm>
          <a:prstGeom prst="roundRect">
            <a:avLst>
              <a:gd name="adj" fmla="val 20588"/>
            </a:avLst>
          </a:prstGeom>
          <a:solidFill>
            <a:srgbClr val="1E5BBE">
              <a:alpha val="95000"/>
            </a:srgbClr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965960" y="4005072"/>
            <a:ext cx="6720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Organizar → Preparar → Modelar → Proteger → Gobernar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Data Days Study Group DP-600 | Sesión 2</a:t>
            </a:r>
            <a:endParaRPr lang="en-US" sz="580" dirty="0"/>
          </a:p>
        </p:txBody>
      </p:sp>
      <p:sp>
        <p:nvSpPr>
          <p:cNvPr id="12" name="Text 1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CASO PRÁCTICO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667000" y="454961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Aplicación guiada: construir una solución Fabric gobernada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Aplicación guiada y elementos esperados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349240" cy="3383280"/>
          </a:xfrm>
          <a:prstGeom prst="roundRect">
            <a:avLst>
              <a:gd name="adj" fmla="val 3784"/>
            </a:avLst>
          </a:prstGeom>
          <a:solidFill>
            <a:srgbClr val="EAF3FF"/>
          </a:solidFill>
          <a:ln w="1397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58952" y="1673352"/>
            <a:ext cx="438912" cy="438912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58952" y="17373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5BBE"/>
                </a:solidFill>
              </a:rPr>
              <a:t>🏢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07592" y="17282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Situación de trabajo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67128" y="2167128"/>
            <a:ext cx="356616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Una organización necesita una solución analítica compartida.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Hay datos operativos, usuarios de negocio y perfiles técnicos.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El contenido debe ser confiable, seguro y mantenible.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La publicación debe separar desarrollo, validación y producción.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349240" cy="3383280"/>
          </a:xfrm>
          <a:prstGeom prst="roundRect">
            <a:avLst>
              <a:gd name="adj" fmla="val 3784"/>
            </a:avLst>
          </a:prstGeom>
          <a:solidFill>
            <a:srgbClr val="FFF8E7"/>
          </a:solidFill>
          <a:ln w="1397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428232" y="1673352"/>
            <a:ext cx="438912" cy="438912"/>
          </a:xfrm>
          <a:prstGeom prst="ellipse">
            <a:avLst/>
          </a:prstGeom>
          <a:solidFill>
            <a:srgbClr val="B88700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28232" y="17373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8700"/>
                </a:solidFill>
              </a:rPr>
              <a:t>📋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76872" y="17282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8700"/>
                </a:solidFill>
              </a:rPr>
              <a:t>Entregables del estudiante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36408" y="2167128"/>
            <a:ext cx="356616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Mapa de workspaces y dominios.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Inventario de artefactos Fabric.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Matriz de roles, permisos y acceso a datos.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Plan de gobierno: owners, sensibilidad, endorsement y linaje.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1280160" y="5212080"/>
            <a:ext cx="9646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600200" y="5394960"/>
            <a:ext cx="9052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13F"/>
                </a:solidFill>
              </a:rPr>
              <a:t>Idea de la actividad: diseñar antes de construir y justificar cada decisión con gobierno.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Cruza todos los dominios DP-600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CASO PRÁCTICO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Ruta de trabajo propuesta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Secuencia de decisiones para una solución gobernada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D6E2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68680" y="1481328"/>
            <a:ext cx="411480" cy="411480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490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13F"/>
                </a:solidFill>
              </a:rPr>
              <a:t>Organizar el entorno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14904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5BBE"/>
                </a:solidFill>
              </a:rPr>
              <a:t>Domain, workspaces, capacity.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903720" y="149047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La estructura separa responsabilidad y ciclo de vida.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85800" y="2286000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6FAFF"/>
          </a:solidFill>
          <a:ln w="10160">
            <a:solidFill>
              <a:srgbClr val="D6E2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868680" y="2441448"/>
            <a:ext cx="411480" cy="411480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68680" y="253288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4505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13F"/>
                </a:solidFill>
              </a:rPr>
              <a:t>Preparar datos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24505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5BBE"/>
                </a:solidFill>
              </a:rPr>
              <a:t>Lakehouse, Warehouse, Dataflow, Pipeline, Notebook.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6903720" y="245059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Cada artefacto tiene un propósito claro.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85800" y="3246120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D6E2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868680" y="3401568"/>
            <a:ext cx="411480" cy="411480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68680" y="34930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410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13F"/>
                </a:solidFill>
              </a:rPr>
              <a:t>Modelar y consumir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0" y="34107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5BBE"/>
                </a:solidFill>
              </a:rPr>
              <a:t>Modelo semántico, reporte, app.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6903720" y="341071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La lógica de negocio queda centralizada.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85800" y="4206240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6FAFF"/>
          </a:solidFill>
          <a:ln w="10160">
            <a:solidFill>
              <a:srgbClr val="D6E2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868680" y="4361688"/>
            <a:ext cx="411480" cy="411480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868680" y="445312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4370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13F"/>
                </a:solidFill>
              </a:rPr>
              <a:t>Proteger acceso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0" y="43708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5BBE"/>
                </a:solidFill>
              </a:rPr>
              <a:t>Roles, item sharing, Read/ReadData/ReadAll.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6903720" y="43708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Cada perfil tiene mínimo privilegio.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85800" y="5166360"/>
            <a:ext cx="108356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D6E2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868680" y="5321808"/>
            <a:ext cx="411480" cy="411480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868680" y="541324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17320" y="5330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213F"/>
                </a:solidFill>
              </a:rPr>
              <a:t>Gobernar cambios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57600" y="53309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E5BBE"/>
                </a:solidFill>
              </a:rPr>
              <a:t>Labels, endorsement, lineage, Git, deployment.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6903720" y="533095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F2937"/>
                </a:solidFill>
              </a:rPr>
              <a:t>Los cambios son trazables y controlados.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Cruza todos los dominios DP-600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BBE"/>
                </a:solidFill>
              </a:rPr>
              <a:t>CASO PRÁCTICO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880360" y="508893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Matriz de seguridad que debe completar el estudiante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Matriz visual de perfiles, permisos y comprobación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95528" y="15179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5BBE"/>
                </a:solidFill>
              </a:rPr>
              <a:t>Admin técnico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5179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0213F"/>
                </a:solidFill>
              </a:rPr>
              <a:t>Admin o Member según responsabilidad.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95528" y="18562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Administrar workspace y configuración.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0" y="18562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</a:rPr>
              <a:t>Puede administrar sin exponer datos innecesarios.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72200" y="1353312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7F9FD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373368" y="15179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5BBE"/>
                </a:solidFill>
              </a:rPr>
              <a:t>Builder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15179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0213F"/>
                </a:solidFill>
              </a:rPr>
              <a:t>Contributor en entorno de desarrollo.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373368" y="18562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Crear y ajustar artefactos.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869680" y="18562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</a:rPr>
              <a:t>No edita producción directamente.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770632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95528" y="29352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5BBE"/>
                </a:solidFill>
              </a:rPr>
              <a:t>Analista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29352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0213F"/>
                </a:solidFill>
              </a:rPr>
              <a:t>Build/ReadData cuando aplique.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95528" y="3273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Crear reportes desde modelo confiable.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3273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</a:rPr>
              <a:t>Usa datos aprobados y respeta seguridad.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2770632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7F9FD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373368" y="29352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5BBE"/>
                </a:solidFill>
              </a:rPr>
              <a:t>Consumidor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18120" y="29352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0213F"/>
                </a:solidFill>
              </a:rPr>
              <a:t>Viewer o acceso por app/item.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6373368" y="3273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Ver reportes publicados.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869680" y="3273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</a:rPr>
              <a:t>No obtiene permisos de edicion.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4187952"/>
            <a:ext cx="5257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95528" y="43525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5BBE"/>
                </a:solidFill>
              </a:rPr>
              <a:t>Owner funcional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40280" y="43525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10213F"/>
                </a:solidFill>
              </a:rPr>
              <a:t>Acceso de revision definido.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795528" y="46908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Aprobar significado y calidad.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91840" y="46908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472"/>
                </a:solidFill>
              </a:rPr>
              <a:t>Puede validar KPI, sensibilidad y certificación.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Maintain a data analytics solution (25-30%)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E5BBE"/>
                </a:solidFill>
              </a:rPr>
              <a:t>https://learn.microsoft.com/en-us/fabric/security/permission-model</a:t>
            </a:r>
            <a:endParaRPr lang="en-US" sz="5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75720" cy="0"/>
          </a:xfrm>
          <a:prstGeom prst="line">
            <a:avLst/>
          </a:prstGeom>
          <a:noFill/>
          <a:ln w="25400">
            <a:solidFill>
              <a:srgbClr val="1021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213F"/>
                </a:solidFill>
              </a:rPr>
              <a:t>CIERRE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13F"/>
                </a:solidFill>
              </a:rPr>
              <a:t>Qué debe poder explicar el estudiante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Síntesis para cerrar la sesión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5394960" cy="3703320"/>
          </a:xfrm>
          <a:prstGeom prst="roundRect">
            <a:avLst>
              <a:gd name="adj" fmla="val 3457"/>
            </a:avLst>
          </a:prstGeom>
          <a:solidFill>
            <a:srgbClr val="E8F8F7"/>
          </a:solidFill>
          <a:ln w="1397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58952" y="1627632"/>
            <a:ext cx="438912" cy="438912"/>
          </a:xfrm>
          <a:prstGeom prst="ellipse">
            <a:avLst/>
          </a:prstGeom>
          <a:solidFill>
            <a:srgbClr val="0B7E88"/>
          </a:solidFill>
          <a:ln w="12700">
            <a:solidFill>
              <a:srgbClr val="0B7E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58952" y="16916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7E88"/>
                </a:solidFill>
              </a:rPr>
              <a:t>🧠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07592" y="16824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E88"/>
                </a:solidFill>
              </a:rPr>
              <a:t>Conceptos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67128" y="2121408"/>
            <a:ext cx="3611880" cy="2916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Diferencia entre tenant, capacity, domain, workspace e item.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Cuándo usar lakehouse, warehouse, eventhouse, dataflow, pipeline o notebook.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Por qué el modelo semántico centraliza la lógica de negocio.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Cómo se separan roles, permisos de item y permisos de datos.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5394960" cy="3703320"/>
          </a:xfrm>
          <a:prstGeom prst="roundRect">
            <a:avLst>
              <a:gd name="adj" fmla="val 3457"/>
            </a:avLst>
          </a:prstGeom>
          <a:solidFill>
            <a:srgbClr val="EAF3FF"/>
          </a:solidFill>
          <a:ln w="1397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364224" y="1627632"/>
            <a:ext cx="438912" cy="438912"/>
          </a:xfrm>
          <a:prstGeom prst="ellipse">
            <a:avLst/>
          </a:prstGeom>
          <a:solidFill>
            <a:srgbClr val="1E5BBE"/>
          </a:solidFill>
          <a:ln w="12700">
            <a:solidFill>
              <a:srgbClr val="1E5B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64224" y="16916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2240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5BBE"/>
                </a:solidFill>
              </a:rPr>
              <a:t>✅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12864" y="16824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5BBE"/>
                </a:solidFill>
              </a:rPr>
              <a:t>Aplicación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0" y="2121408"/>
            <a:ext cx="3611880" cy="2916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Diseñar una estructura de trabajo antes de construir.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Justificar decisiones con URLs oficiales.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Relacionar cada tema con el rango DP-600 correspondiente.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1F2937"/>
                </a:solidFill>
              </a:rPr>
              <a:t>• Cerrar con un caso práctico completo y gobernado.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1097280" y="5532120"/>
            <a:ext cx="9966960" cy="457200"/>
          </a:xfrm>
          <a:prstGeom prst="roundRect">
            <a:avLst>
              <a:gd name="adj" fmla="val 24000"/>
            </a:avLst>
          </a:prstGeom>
          <a:solidFill>
            <a:srgbClr val="FFF8E7"/>
          </a:solidFill>
          <a:ln w="12700">
            <a:solidFill>
              <a:srgbClr val="B887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463040" y="5696712"/>
            <a:ext cx="9235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13F"/>
                </a:solidFill>
              </a:rPr>
              <a:t>Meta: poder explicar la arquitectura, justificar permisos y gobernar cambios en una solución Fabric.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84048" y="6400800"/>
            <a:ext cx="11430000" cy="310896"/>
          </a:xfrm>
          <a:prstGeom prst="roundRect">
            <a:avLst>
              <a:gd name="adj" fmla="val 23529"/>
            </a:avLst>
          </a:prstGeom>
          <a:solidFill>
            <a:srgbClr val="EEF8FC"/>
          </a:solidFill>
          <a:ln w="10160">
            <a:solidFill>
              <a:srgbClr val="B5D0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30352" y="6455664"/>
            <a:ext cx="3200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b="1" dirty="0">
                <a:solidFill>
                  <a:srgbClr val="10213F"/>
                </a:solidFill>
              </a:rPr>
              <a:t>DP-600: Cruza todos los dominios DP-600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4069080" y="6455664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10213F"/>
                </a:solidFill>
              </a:rPr>
              <a:t>https://learn.microsoft.com/en-us/credentials/certifications/resources/study-guides/dp-600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5935</Words>
  <Application>Microsoft Office PowerPoint</Application>
  <PresentationFormat>Panorámica</PresentationFormat>
  <Paragraphs>930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Days DP-600 Sesión 2 - versión visual didáctica</dc:title>
  <dc:subject>DP-600 Microsoft Fabric - rediseño didáctico</dc:subject>
  <dc:creator>OpenAI</dc:creator>
  <cp:lastModifiedBy>vicente antonio juan magallanes</cp:lastModifiedBy>
  <cp:revision>2</cp:revision>
  <dcterms:created xsi:type="dcterms:W3CDTF">2026-06-26T17:26:48Z</dcterms:created>
  <dcterms:modified xsi:type="dcterms:W3CDTF">2026-06-26T17:50:15Z</dcterms:modified>
</cp:coreProperties>
</file>
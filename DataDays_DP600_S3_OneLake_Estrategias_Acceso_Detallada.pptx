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learn.microsoft.com/en-us/fabric/fundamentals/microsoft-fabric-overview"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learn.microsoft.com/en-us/fabric/fundamentals/store-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learn.microsoft.com/en-us/credentials/certifications/resources/study-guides/dp-60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learn.microsoft.com/en-us/credentials/certifications/resources/study-guides/dp-60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learn.microsoft.com/en-us/credentials/certifications/resources/study-guides/dp-60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onelake/onelake-overview" TargetMode="Externa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learn.microsoft.com/en-us/fabric/onelake/onelake-overview"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learn.microsoft.com/en-us/fabric/fundamentals/microsoft-fabric-overview"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learn.microsoft.com/en-us/fabric/onelake/onelake-overview"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learn.microsoft.com/en-us/fabric/governance/onelake-catalog-overview"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learn.microsoft.com/en-us/fabric/onelake/onelake-overvie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learn.microsoft.com/en-us/fabric/fundamentals/microsoft-fabric-overview"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fundamentals/delta-lake-overview" TargetMode="Externa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learn.microsoft.com/en-us/fabric/fundamentals/delta-lake-overview"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learn.microsoft.com/en-us/fabric/fundamentals/delta-lake-overvi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learn.microsoft.com/en-us/fabric/fundamentals/delta-lake-overview"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learn.microsoft.com/en-us/fabric/fundamentals/delta-lake-overview"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https://learn.microsoft.com/en-us/fabric/data-engineering/lakehouse-overvie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learn.microsoft.com/en-us/fabric/data-engineering/lakehouse-overvie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learn.microsoft.com/en-us/fabric/data-engineering/lakehouse-overview"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hyperlink" Target="https://learn.microsoft.com/en-us/fabric/data-engineering/lakehouse-overvie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learn.microsoft.com/en-us/fabric/data-engineering/load-to-tabl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learn.microsoft.com/en-us/fabric/data-engineering/lakehouse-sql-analytics-endpoin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hyperlink" Target="https://learn.microsoft.com/en-us/fabric/data-engineering/lakehouse-overview"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hyperlink" Target="https://learn.microsoft.com/en-us/fabric/data-engineering/load-to-table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factory/decision-guide-data-movement" TargetMode="Externa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hyperlink" Target="https://learn.microsoft.com/en-us/fabric/data-factory/decision-guide-data-movemen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learn.microsoft.com/en-us/fabric/onelake/onelake-shortcut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learn.microsoft.com/en-us/fabric/onelake/onelake-shortcuts"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hyperlink" Target="https://learn.microsoft.com/en-us/fabric/onelake/shortcuts/create-onelake-shortcu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hyperlink" Target="https://learn.microsoft.com/en-us/fabric/onelake/shortcuts/create-onelake-shortcu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hyperlink" Target="https://learn.microsoft.com/en-us/fabric/mirroring/overview"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hyperlink" Target="https://learn.microsoft.com/en-us/fabric/data-factory/decision-guide-data-movemen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hyperlink" Target="https://learn.microsoft.com/en-us/fabric/fundamentals/store-dat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hyperlink" Target="https://learn.microsoft.com/en-us/fabric/data-factory/decision-guide-data-movemen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hyperlink" Target="https://learn.microsoft.com/en-us/fabric/onelake/onelake-shortcut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hyperlink" Target="https://learn.microsoft.com/en-us/fabric/onelake/onelake-shortcut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data-engineering/create-lakehouse" TargetMode="Externa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hyperlink" Target="https://learn.microsoft.com/en-us/fabric/data-engineering/create-lakehous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hyperlink" Target="https://learn.microsoft.com/en-us/fabric/data-engineering/load-to-table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hyperlink" Target="https://learn.microsoft.com/en-us/fabric/data-engineering/load-to-table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hyperlink" Target="https://learn.microsoft.com/en-us/fabric/data-engineering/lakehouse-sql-analytics-endpoint"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hyperlink" Target="https://learn.microsoft.com/en-us/fabric/onelake/shortcuts/create-onelake-shortcut"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hyperlink" Target="https://learn.microsoft.com/en-us/credentials/certifications/resources/study-guides/dp-60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fabric/fundamentals/store-data" TargetMode="External"/><Relationship Id="rId3" Type="http://schemas.openxmlformats.org/officeDocument/2006/relationships/image" Target="../media/image4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hyperlink" Target="https://learn.microsoft.com/en-us/fabric/fundamentals/store-dat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hyperlink" Target="https://learn.microsoft.com/en-us/fabric/data-engineering/load-to-table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learn.microsoft.com/en-us/fabric/onelake/onelake-shortcut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hyperlink" Target="https://learn.microsoft.com/en-us/fabric/mirroring/overview"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hyperlink" Target="https://learn.microsoft.com/en-us/fabric/data-factory/decision-guide-data-movement"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hyperlink" Target="https://learn.microsoft.com/en-us/fabric/fundamentals/store-dat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hyperlink" Target="https://learn.microsoft.com/en-us/fabric/fundamentals/store-data"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hyperlink" Target="https://learn.microsoft.com/en-us/fabric/fundamentals/microsoft-fabric-overview"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hyperlink" Target="https://learn.microsoft.com/en-us/fabric/data-factory/decision-guide-data-movement"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hyperlink" Target="https://learn.microsoft.com/en-us/fabric/fundamentals/store-data"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hyperlink" Target="https://learn.microsoft.com/en-us/credentials/certifications/resources/study-guides/dp-600"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hyperlink" Target="https://learn.microsoft.com/en-us/credentials/certifications/resources/study-guides/dp-600"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hyperlink" Target="https://learn.microsoft.com/en-us/credentials/certifications/resources/study-guides/dp-60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053328"/>
            <a:ext cx="12191695" cy="80467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566928"/>
            <a:ext cx="5349240" cy="256032"/>
          </a:xfrm>
          <a:prstGeom prst="rect">
            <a:avLst/>
          </a:prstGeom>
          <a:noFill/>
        </p:spPr>
        <p:txBody>
          <a:bodyPr wrap="square" lIns="0" rIns="0" tIns="0" bIns="0">
            <a:normAutofit/>
          </a:bodyPr>
          <a:lstStyle/>
          <a:p>
            <a:r>
              <a:rPr sz="1100" b="1">
                <a:solidFill>
                  <a:srgbClr val="7EE2E8"/>
                </a:solidFill>
                <a:latin typeface="Aptos"/>
              </a:rPr>
              <a:t>SESIÓN 3 · DATA DAYS DP-600</a:t>
            </a:r>
          </a:p>
        </p:txBody>
      </p:sp>
      <p:sp>
        <p:nvSpPr>
          <p:cNvPr id="5" name="TextBox 4"/>
          <p:cNvSpPr txBox="1"/>
          <p:nvPr/>
        </p:nvSpPr>
        <p:spPr>
          <a:xfrm>
            <a:off x="658368" y="1024128"/>
            <a:ext cx="5303520" cy="1325880"/>
          </a:xfrm>
          <a:prstGeom prst="rect">
            <a:avLst/>
          </a:prstGeom>
          <a:noFill/>
        </p:spPr>
        <p:txBody>
          <a:bodyPr wrap="square" lIns="0" rIns="0" tIns="0" bIns="0">
            <a:normAutofit/>
          </a:bodyPr>
          <a:lstStyle/>
          <a:p>
            <a:r>
              <a:rPr sz="3100" b="1">
                <a:solidFill>
                  <a:srgbClr val="FFFFFF"/>
                </a:solidFill>
                <a:latin typeface="Aptos"/>
              </a:rPr>
              <a:t>OneLake y estrategias
de acceso a datos</a:t>
            </a:r>
          </a:p>
        </p:txBody>
      </p:sp>
      <p:sp>
        <p:nvSpPr>
          <p:cNvPr id="6" name="TextBox 5"/>
          <p:cNvSpPr txBox="1"/>
          <p:nvPr/>
        </p:nvSpPr>
        <p:spPr>
          <a:xfrm>
            <a:off x="676656" y="2615184"/>
            <a:ext cx="5120640" cy="566928"/>
          </a:xfrm>
          <a:prstGeom prst="rect">
            <a:avLst/>
          </a:prstGeom>
          <a:noFill/>
        </p:spPr>
        <p:txBody>
          <a:bodyPr wrap="square" lIns="0" rIns="0" tIns="0" bIns="0">
            <a:normAutofit/>
          </a:bodyPr>
          <a:lstStyle/>
          <a:p>
            <a:r>
              <a:rPr sz="1700" b="0">
                <a:solidFill>
                  <a:srgbClr val="DBE6F1"/>
                </a:solidFill>
                <a:latin typeface="Aptos"/>
              </a:rPr>
              <a:t>Delta, Files, Tables, carga física, Shortcuts y Mirroring.</a:t>
            </a:r>
          </a:p>
        </p:txBody>
      </p:sp>
      <p:sp>
        <p:nvSpPr>
          <p:cNvPr id="7" name="TextBox 6"/>
          <p:cNvSpPr txBox="1"/>
          <p:nvPr/>
        </p:nvSpPr>
        <p:spPr>
          <a:xfrm>
            <a:off x="676656" y="4992624"/>
            <a:ext cx="5166360" cy="274320"/>
          </a:xfrm>
          <a:prstGeom prst="rect">
            <a:avLst/>
          </a:prstGeom>
          <a:noFill/>
        </p:spPr>
        <p:txBody>
          <a:bodyPr wrap="square" lIns="0" rIns="0" tIns="0" bIns="0">
            <a:normAutofit/>
          </a:bodyPr>
          <a:lstStyle/>
          <a:p>
            <a:r>
              <a:rPr sz="1300" b="1">
                <a:solidFill>
                  <a:srgbClr val="FFFFFF"/>
                </a:solidFill>
                <a:latin typeface="Aptos"/>
              </a:rPr>
              <a:t>Miércoles 8 de julio de 2026 · 90 minutos</a:t>
            </a:r>
          </a:p>
        </p:txBody>
      </p:sp>
      <p:sp>
        <p:nvSpPr>
          <p:cNvPr id="8" name="TextBox 7"/>
          <p:cNvSpPr txBox="1"/>
          <p:nvPr/>
        </p:nvSpPr>
        <p:spPr>
          <a:xfrm>
            <a:off x="676656" y="5404104"/>
            <a:ext cx="5166360" cy="228600"/>
          </a:xfrm>
          <a:prstGeom prst="rect">
            <a:avLst/>
          </a:prstGeom>
          <a:noFill/>
        </p:spPr>
        <p:txBody>
          <a:bodyPr wrap="square" lIns="0" rIns="0" tIns="0" bIns="0">
            <a:normAutofit/>
          </a:bodyPr>
          <a:lstStyle/>
          <a:p>
            <a:r>
              <a:rPr sz="1000" b="0">
                <a:solidFill>
                  <a:srgbClr val="DBE6F1"/>
                </a:solidFill>
                <a:latin typeface="Aptos"/>
              </a:rPr>
              <a:t>Microsoft Fabric Analytics Engineer Associate</a:t>
            </a:r>
          </a:p>
        </p:txBody>
      </p:sp>
      <p:sp>
        <p:nvSpPr>
          <p:cNvPr id="9" name="Rounded Rectangle 8"/>
          <p:cNvSpPr/>
          <p:nvPr/>
        </p:nvSpPr>
        <p:spPr>
          <a:xfrm>
            <a:off x="6144768" y="658368"/>
            <a:ext cx="5413248" cy="5056632"/>
          </a:xfrm>
          <a:prstGeom prst="roundRect">
            <a:avLst/>
          </a:prstGeom>
          <a:solidFill>
            <a:srgbClr val="FFFFFF"/>
          </a:solidFill>
          <a:ln>
            <a:solidFill>
              <a:srgbClr val="597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bric_architecture.png">
            <a:hlinkClick r:id="rId3"/>
          </p:cNvPr>
          <p:cNvPicPr>
            <a:picLocks noChangeAspect="1"/>
          </p:cNvPicPr>
          <p:nvPr/>
        </p:nvPicPr>
        <p:blipFill>
          <a:blip r:embed="rId2"/>
          <a:stretch>
            <a:fillRect/>
          </a:stretch>
        </p:blipFill>
        <p:spPr>
          <a:xfrm>
            <a:off x="6345936" y="1791389"/>
            <a:ext cx="5010912" cy="2552844"/>
          </a:xfrm>
          <a:prstGeom prst="rect">
            <a:avLst/>
          </a:prstGeom>
        </p:spPr>
      </p:pic>
      <p:sp>
        <p:nvSpPr>
          <p:cNvPr id="11" name="TextBox 10">
            <a:hlinkClick r:id="rId3"/>
          </p:cNvPr>
          <p:cNvSpPr txBox="1"/>
          <p:nvPr/>
        </p:nvSpPr>
        <p:spPr>
          <a:xfrm>
            <a:off x="6446520" y="5294376"/>
            <a:ext cx="4754880" cy="164592"/>
          </a:xfrm>
          <a:prstGeom prst="rect">
            <a:avLst/>
          </a:prstGeom>
          <a:noFill/>
        </p:spPr>
        <p:txBody>
          <a:bodyPr wrap="square" lIns="0" rIns="0" tIns="0" bIns="0">
            <a:normAutofit/>
          </a:bodyPr>
          <a:lstStyle/>
          <a:p>
            <a:pPr algn="ctr"/>
            <a:r>
              <a:rPr sz="750" b="0">
                <a:solidFill>
                  <a:srgbClr val="55606E"/>
                </a:solidFill>
                <a:latin typeface="Aptos"/>
                <a:hlinkClick r:id="rId3"/>
              </a:rPr>
              <a:t>Arquitectura oficial de Microsoft Fabric</a:t>
            </a:r>
          </a:p>
        </p:txBody>
      </p:sp>
      <p:sp>
        <p:nvSpPr>
          <p:cNvPr id="12" name="TextBox 11"/>
          <p:cNvSpPr txBox="1"/>
          <p:nvPr/>
        </p:nvSpPr>
        <p:spPr>
          <a:xfrm>
            <a:off x="658368" y="6318504"/>
            <a:ext cx="10607040" cy="182880"/>
          </a:xfrm>
          <a:prstGeom prst="rect">
            <a:avLst/>
          </a:prstGeom>
          <a:noFill/>
        </p:spPr>
        <p:txBody>
          <a:bodyPr wrap="square" lIns="0" rIns="0" tIns="0" bIns="0">
            <a:normAutofit/>
          </a:bodyPr>
          <a:lstStyle/>
          <a:p>
            <a:r>
              <a:rPr sz="850" b="0">
                <a:solidFill>
                  <a:srgbClr val="FFFFFF"/>
                </a:solidFill>
                <a:latin typeface="Aptos"/>
              </a:rPr>
              <a:t>Microsoft Data Days 2026 · Preparación comunitaria DP-600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INICIO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El reto de la sesión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Tres fuentes, tres necesidades y una decisión técnica por cada una.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Una solución de ventas recibe un CSV histórico, una carpeta gobernada en ADLS Gen2 y pedidos que cambian continuamente en Azure SQL. La decisión no consiste en elegir la herramienta más popular, sino en determinar si conviene copiar, referenciar o replicar.</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CSV histórico: conservar el archivo y preparar una tabla analítica.</a:t>
            </a:r>
          </a:p>
          <a:p>
            <a:pPr>
              <a:spcAft>
                <a:spcPts val="800"/>
              </a:spcAft>
            </a:pPr>
            <a:r>
              <a:rPr sz="1320" b="0">
                <a:solidFill>
                  <a:srgbClr val="232B38"/>
                </a:solidFill>
                <a:latin typeface="Aptos"/>
              </a:rPr>
              <a:t>• ADLS Gen2: reutilizar datos existentes sin crear otra copia.</a:t>
            </a:r>
          </a:p>
          <a:p>
            <a:pPr>
              <a:spcAft>
                <a:spcPts val="800"/>
              </a:spcAft>
            </a:pPr>
            <a:r>
              <a:rPr sz="1320" b="0">
                <a:solidFill>
                  <a:srgbClr val="232B38"/>
                </a:solidFill>
                <a:latin typeface="Aptos"/>
              </a:rPr>
              <a:t>• Azure SQL: mantener una réplica analítica con baja latencia.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Pregunta guía: ¿qué patrón satisface acceso, frescura, gobierno y coste?</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02_5fdb7792.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Get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Opciones para obtener datos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OBJETIVO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Resultados de aprendizaje</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Al finalizar, cada participante podrá defender una estrategia de acceso.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sesión desarrolla criterio para organizar datos en OneLake y seleccionar el patrón de acceso adecuado. El resultado no será solamente un diagrama: cada decisión deberá incluir destino, frecuencia, riesgo y una validación técnica.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Explicar OneLake, OneCopy, Parquet y Delta.</a:t>
            </a:r>
          </a:p>
          <a:p>
            <a:pPr>
              <a:spcAft>
                <a:spcPts val="800"/>
              </a:spcAft>
            </a:pPr>
            <a:r>
              <a:rPr sz="1320" b="0">
                <a:solidFill>
                  <a:srgbClr val="232B38"/>
                </a:solidFill>
                <a:latin typeface="Aptos"/>
              </a:rPr>
              <a:t>• Diferenciar Files y Tables dentro de un Lakehouse.</a:t>
            </a:r>
          </a:p>
          <a:p>
            <a:pPr>
              <a:spcAft>
                <a:spcPts val="800"/>
              </a:spcAft>
            </a:pPr>
            <a:r>
              <a:rPr sz="1320" b="0">
                <a:solidFill>
                  <a:srgbClr val="232B38"/>
                </a:solidFill>
                <a:latin typeface="Aptos"/>
              </a:rPr>
              <a:t>• Elegir entre carga física, Shortcut y Mirroring.</a:t>
            </a:r>
          </a:p>
          <a:p>
            <a:pPr>
              <a:spcAft>
                <a:spcPts val="800"/>
              </a:spcAft>
            </a:pPr>
            <a:r>
              <a:rPr sz="1320" b="0">
                <a:solidFill>
                  <a:srgbClr val="232B38"/>
                </a:solidFill>
                <a:latin typeface="Aptos"/>
              </a:rPr>
              <a:t>• Validar una tabla Delta mediante el SQL analytics endpoint.</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Entregable: matriz fuente → método → destino → riesgo → validación.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03_ef0cc2f1.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Get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oficial DP-600</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DP-600</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Vínculo directo con el examen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Prepare data concentra el 45-50 % de las habilidades medidas.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guía oficial exige crear conexiones, descubrir datos mediante OneLake Catalog, ingerir o acceder a los datos según la necesidad y elegir entre distintos almacenes. Shortcuts y Mirroring materializan esas decisiones en escenarios reales de Fabric.</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Create a data connection.</a:t>
            </a:r>
          </a:p>
          <a:p>
            <a:pPr>
              <a:spcAft>
                <a:spcPts val="800"/>
              </a:spcAft>
            </a:pPr>
            <a:r>
              <a:rPr sz="1320" b="0">
                <a:solidFill>
                  <a:srgbClr val="232B38"/>
                </a:solidFill>
                <a:latin typeface="Aptos"/>
              </a:rPr>
              <a:t>• Discover data by using OneLake catalog and Real-Time hub.</a:t>
            </a:r>
          </a:p>
          <a:p>
            <a:pPr>
              <a:spcAft>
                <a:spcPts val="800"/>
              </a:spcAft>
            </a:pPr>
            <a:r>
              <a:rPr sz="1320" b="0">
                <a:solidFill>
                  <a:srgbClr val="232B38"/>
                </a:solidFill>
                <a:latin typeface="Aptos"/>
              </a:rPr>
              <a:t>• Ingest or access data as needed.</a:t>
            </a:r>
          </a:p>
          <a:p>
            <a:pPr>
              <a:spcAft>
                <a:spcPts val="800"/>
              </a:spcAft>
            </a:pPr>
            <a:r>
              <a:rPr sz="1320" b="0">
                <a:solidFill>
                  <a:srgbClr val="232B38"/>
                </a:solidFill>
                <a:latin typeface="Aptos"/>
              </a:rPr>
              <a:t>• Choose between different data stores.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Los términos pueden aparecer dentro de preguntas de escenario, no como definiciones aisladas.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04_3315f07c.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(45-50 %)</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Study guide DP-600</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AGENDA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Ruta de 90 minutos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Concepto, decisión, demostración y práctica acumulativa.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sesión alterna bloques breves de contenido con decisiones participativas. La demostración construye la base técnica y el caso práctico obliga a justificar cada elección usando criterios similares a los del examen.</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0-20 min: OneLake, OneCopy y OneLake Catalog.</a:t>
            </a:r>
          </a:p>
          <a:p>
            <a:pPr>
              <a:spcAft>
                <a:spcPts val="800"/>
              </a:spcAft>
            </a:pPr>
            <a:r>
              <a:rPr sz="1320" b="0">
                <a:solidFill>
                  <a:srgbClr val="232B38"/>
                </a:solidFill>
                <a:latin typeface="Aptos"/>
              </a:rPr>
              <a:t>• 20-40 min: Parquet, Delta, Lakehouse, Files y Tables.</a:t>
            </a:r>
          </a:p>
          <a:p>
            <a:pPr>
              <a:spcAft>
                <a:spcPts val="800"/>
              </a:spcAft>
            </a:pPr>
            <a:r>
              <a:rPr sz="1320" b="0">
                <a:solidFill>
                  <a:srgbClr val="232B38"/>
                </a:solidFill>
                <a:latin typeface="Aptos"/>
              </a:rPr>
              <a:t>• 40-60 min: carga física, Shortcuts y Mirroring.</a:t>
            </a:r>
          </a:p>
          <a:p>
            <a:pPr>
              <a:spcAft>
                <a:spcPts val="800"/>
              </a:spcAft>
            </a:pPr>
            <a:r>
              <a:rPr sz="1320" b="0">
                <a:solidFill>
                  <a:srgbClr val="232B38"/>
                </a:solidFill>
                <a:latin typeface="Aptos"/>
              </a:rPr>
              <a:t>• 60-75 min: demostración guiada; 75-90 min: caso y cierre.</a:t>
            </a:r>
          </a:p>
        </p:txBody>
      </p:sp>
      <p:sp>
        <p:nvSpPr>
          <p:cNvPr id="8" name="Rounded Rectangle 7"/>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05_16bb3bb5.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0" name="TextBox 9">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1" name="Rectangle 10"/>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Get data</a:t>
            </a:r>
          </a:p>
        </p:txBody>
      </p:sp>
      <p:sp>
        <p:nvSpPr>
          <p:cNvPr id="13" name="TextBox 12">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oficial DP-600</a:t>
            </a:r>
          </a:p>
        </p:txBody>
      </p:sp>
      <p:sp>
        <p:nvSpPr>
          <p:cNvPr id="14" name="TextBox 13"/>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4846320" cy="274320"/>
          </a:xfrm>
          <a:prstGeom prst="rect">
            <a:avLst/>
          </a:prstGeom>
          <a:noFill/>
        </p:spPr>
        <p:txBody>
          <a:bodyPr wrap="square" lIns="0" rIns="0" tIns="0" bIns="0">
            <a:normAutofit/>
          </a:bodyPr>
          <a:lstStyle/>
          <a:p>
            <a:r>
              <a:rPr sz="1100" b="1">
                <a:solidFill>
                  <a:srgbClr val="82E0E5"/>
                </a:solidFill>
                <a:latin typeface="Aptos"/>
              </a:rPr>
              <a:t>0-20 MIN</a:t>
            </a:r>
          </a:p>
        </p:txBody>
      </p:sp>
      <p:sp>
        <p:nvSpPr>
          <p:cNvPr id="4" name="TextBox 3"/>
          <p:cNvSpPr txBox="1"/>
          <p:nvPr/>
        </p:nvSpPr>
        <p:spPr>
          <a:xfrm>
            <a:off x="685800" y="1225296"/>
            <a:ext cx="5166360" cy="1005840"/>
          </a:xfrm>
          <a:prstGeom prst="rect">
            <a:avLst/>
          </a:prstGeom>
          <a:noFill/>
        </p:spPr>
        <p:txBody>
          <a:bodyPr wrap="square" lIns="0" rIns="0" tIns="0" bIns="0">
            <a:normAutofit/>
          </a:bodyPr>
          <a:lstStyle/>
          <a:p>
            <a:r>
              <a:rPr sz="3100" b="1">
                <a:solidFill>
                  <a:srgbClr val="FFFFFF"/>
                </a:solidFill>
                <a:latin typeface="Aptos"/>
              </a:rPr>
              <a:t>1. OneLake como base común</a:t>
            </a:r>
          </a:p>
        </p:txBody>
      </p:sp>
      <p:sp>
        <p:nvSpPr>
          <p:cNvPr id="5" name="TextBox 4"/>
          <p:cNvSpPr txBox="1"/>
          <p:nvPr/>
        </p:nvSpPr>
        <p:spPr>
          <a:xfrm>
            <a:off x="704088" y="2514600"/>
            <a:ext cx="5029200" cy="1024128"/>
          </a:xfrm>
          <a:prstGeom prst="rect">
            <a:avLst/>
          </a:prstGeom>
          <a:noFill/>
        </p:spPr>
        <p:txBody>
          <a:bodyPr wrap="square" lIns="0" rIns="0" tIns="0" bIns="0">
            <a:normAutofit/>
          </a:bodyPr>
          <a:lstStyle/>
          <a:p>
            <a:r>
              <a:rPr sz="1700" b="0">
                <a:solidFill>
                  <a:srgbClr val="DAE5F0"/>
                </a:solidFill>
                <a:latin typeface="Aptos"/>
              </a:rPr>
              <a:t>Una organización, un lago lógico y múltiples motores trabajando sobre los mismos datos.</a:t>
            </a:r>
          </a:p>
        </p:txBody>
      </p:sp>
      <p:sp>
        <p:nvSpPr>
          <p:cNvPr id="6" name="TextBox 5">
            <a:hlinkClick r:id="rId2"/>
          </p:cNvPr>
          <p:cNvSpPr txBox="1"/>
          <p:nvPr/>
        </p:nvSpPr>
        <p:spPr>
          <a:xfrm>
            <a:off x="704088" y="5340096"/>
            <a:ext cx="4434840" cy="219456"/>
          </a:xfrm>
          <a:prstGeom prst="rect">
            <a:avLst/>
          </a:prstGeom>
          <a:noFill/>
        </p:spPr>
        <p:txBody>
          <a:bodyPr wrap="square" lIns="0" rIns="0" tIns="0" bIns="0">
            <a:normAutofit/>
          </a:bodyPr>
          <a:lstStyle/>
          <a:p>
            <a:r>
              <a:rPr sz="1000" b="1">
                <a:solidFill>
                  <a:srgbClr val="FFFFFF"/>
                </a:solidFill>
                <a:latin typeface="Aptos"/>
                <a:hlinkClick r:id="rId2"/>
              </a:rPr>
              <a:t>Microsoft Learn</a:t>
            </a:r>
          </a:p>
        </p:txBody>
      </p:sp>
      <p:sp>
        <p:nvSpPr>
          <p:cNvPr id="7" name="Rounded Rectangle 6"/>
          <p:cNvSpPr/>
          <p:nvPr/>
        </p:nvSpPr>
        <p:spPr>
          <a:xfrm>
            <a:off x="6053328" y="685800"/>
            <a:ext cx="5422392" cy="5248656"/>
          </a:xfrm>
          <a:prstGeom prst="roundRect">
            <a:avLst/>
          </a:prstGeom>
          <a:solidFill>
            <a:srgbClr val="FFFFFF"/>
          </a:solidFill>
          <a:ln>
            <a:solidFill>
              <a:srgbClr val="597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06_d9ea4f19.png">
            <a:hlinkClick r:id="rId2"/>
          </p:cNvPr>
          <p:cNvPicPr>
            <a:picLocks noChangeAspect="1"/>
          </p:cNvPicPr>
          <p:nvPr/>
        </p:nvPicPr>
        <p:blipFill>
          <a:blip r:embed="rId3"/>
          <a:stretch>
            <a:fillRect/>
          </a:stretch>
        </p:blipFill>
        <p:spPr>
          <a:xfrm>
            <a:off x="6236208" y="1666493"/>
            <a:ext cx="5056632" cy="3250692"/>
          </a:xfrm>
          <a:prstGeom prst="rect">
            <a:avLst/>
          </a:prstGeom>
        </p:spPr>
      </p:pic>
      <p:sp>
        <p:nvSpPr>
          <p:cNvPr id="9" name="Rectangle 8"/>
          <p:cNvSpPr/>
          <p:nvPr/>
        </p:nvSpPr>
        <p:spPr>
          <a:xfrm>
            <a:off x="0" y="6108192"/>
            <a:ext cx="12191695" cy="74980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45936"/>
            <a:ext cx="9692640" cy="201168"/>
          </a:xfrm>
          <a:prstGeom prst="rect">
            <a:avLst/>
          </a:prstGeom>
          <a:noFill/>
        </p:spPr>
        <p:txBody>
          <a:bodyPr wrap="square" lIns="0" rIns="0" tIns="0" bIns="0">
            <a:normAutofit/>
          </a:bodyPr>
          <a:lstStyle/>
          <a:p>
            <a:r>
              <a:rPr sz="900" b="0">
                <a:solidFill>
                  <a:srgbClr val="FFFFFF"/>
                </a:solidFill>
                <a:latin typeface="Aptos"/>
              </a:rPr>
              <a:t>Data Days Study Group DP-600 · Sesión 3</a:t>
            </a:r>
          </a:p>
        </p:txBody>
      </p:sp>
      <p:sp>
        <p:nvSpPr>
          <p:cNvPr id="11" name="TextBox 10"/>
          <p:cNvSpPr txBox="1"/>
          <p:nvPr/>
        </p:nvSpPr>
        <p:spPr>
          <a:xfrm>
            <a:off x="11045952" y="6327648"/>
            <a:ext cx="365760" cy="201168"/>
          </a:xfrm>
          <a:prstGeom prst="rect">
            <a:avLst/>
          </a:prstGeom>
          <a:noFill/>
        </p:spPr>
        <p:txBody>
          <a:bodyPr wrap="square" lIns="0" rIns="0" tIns="0" bIns="0">
            <a:normAutofit/>
          </a:bodyPr>
          <a:lstStyle/>
          <a:p>
            <a:pPr algn="r"/>
            <a:r>
              <a:rPr sz="900" b="1">
                <a:solidFill>
                  <a:srgbClr val="FFFFFF"/>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ONELAKE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Almacenamiento unificado de Fabric</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OneLake se aprovisiona automáticamente con cada tenant de Microsoft Fabric.</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OneLake es un lago de datos único, lógico y organizacional construido sobre ADLS Gen2. Los elementos de Fabric almacenan o exponen sus datos mediante este espacio común, reduciendo silos y evitando integraciones separadas entre cada experiencia.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No se crea un OneLake independiente por workspace.</a:t>
            </a:r>
          </a:p>
          <a:p>
            <a:pPr>
              <a:spcAft>
                <a:spcPts val="800"/>
              </a:spcAft>
            </a:pPr>
            <a:r>
              <a:rPr sz="1320" b="0">
                <a:solidFill>
                  <a:srgbClr val="232B38"/>
                </a:solidFill>
                <a:latin typeface="Aptos"/>
              </a:rPr>
              <a:t>• Soporta datos estructurados, semiestructurados y no estructurados.</a:t>
            </a:r>
          </a:p>
          <a:p>
            <a:pPr>
              <a:spcAft>
                <a:spcPts val="800"/>
              </a:spcAft>
            </a:pPr>
            <a:r>
              <a:rPr sz="1320" b="0">
                <a:solidFill>
                  <a:srgbClr val="232B38"/>
                </a:solidFill>
                <a:latin typeface="Aptos"/>
              </a:rPr>
              <a:t>• Centraliza acceso, descubrimiento y gobierno.</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OneLake es la base; Lakehouse, Warehouse y otros elementos son experiencias sobre ella.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onelake_foundation.png">
            <a:hlinkClick r:id="rId3"/>
          </p:cNvPr>
          <p:cNvPicPr>
            <a:picLocks noChangeAspect="1"/>
          </p:cNvPicPr>
          <p:nvPr/>
        </p:nvPicPr>
        <p:blipFill>
          <a:blip r:embed="rId2"/>
          <a:stretch>
            <a:fillRect/>
          </a:stretch>
        </p:blipFill>
        <p:spPr>
          <a:xfrm>
            <a:off x="6711696" y="2349074"/>
            <a:ext cx="4443984" cy="2717634"/>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Discover data · Ingest or access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OneLake</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ONELAKE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Jerarquía: tenant, workspace e item</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estructura lógica facilita organización, permisos y descubrimiento.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tenant representa la raíz de OneLake. Cada workspace funciona como un contenedor organizativo y dentro de él viven elementos como Lakehouse, Warehouse o modelos semánticos. Comprender esta jerarquía permite interpretar rutas y dependencias.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Tenant: límite organizacional.</a:t>
            </a:r>
          </a:p>
          <a:p>
            <a:pPr>
              <a:spcAft>
                <a:spcPts val="800"/>
              </a:spcAft>
            </a:pPr>
            <a:r>
              <a:rPr sz="1320" b="0">
                <a:solidFill>
                  <a:srgbClr val="232B38"/>
                </a:solidFill>
                <a:latin typeface="Aptos"/>
              </a:rPr>
              <a:t>• Workspace: colaboración y agrupación de elementos.</a:t>
            </a:r>
          </a:p>
          <a:p>
            <a:pPr>
              <a:spcAft>
                <a:spcPts val="800"/>
              </a:spcAft>
            </a:pPr>
            <a:r>
              <a:rPr sz="1320" b="0">
                <a:solidFill>
                  <a:srgbClr val="232B38"/>
                </a:solidFill>
                <a:latin typeface="Aptos"/>
              </a:rPr>
              <a:t>• Item: activo concreto que almacena, procesa o consume datos.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ubicación del dato debe expresarse con workspace, item y carpeta o tabla.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enant_hierarchy.png">
            <a:hlinkClick r:id="rId3"/>
          </p:cNvPr>
          <p:cNvPicPr>
            <a:picLocks noChangeAspect="1"/>
          </p:cNvPicPr>
          <p:nvPr/>
        </p:nvPicPr>
        <p:blipFill>
          <a:blip r:embed="rId2"/>
          <a:stretch>
            <a:fillRect/>
          </a:stretch>
        </p:blipFill>
        <p:spPr>
          <a:xfrm>
            <a:off x="6711696" y="2335714"/>
            <a:ext cx="4443984" cy="2744355"/>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OneLake catalog · Data stores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Arquitectura de Microsoft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ONELAKE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OneCopy: una copia, varios motores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Spark, SQL y Power BI pueden trabajar sobre una copia lógica común.</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OneCopy reduce duplicaciones entre motores analíticos y ayuda a mantener una versión coherente del dato. No prohíbe realizar copias: exige que cada copia responda a una necesidad como histórico, aislamiento, transformación o rendimiento.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Menos sincronizaciones entre plataformas.</a:t>
            </a:r>
          </a:p>
          <a:p>
            <a:pPr>
              <a:spcAft>
                <a:spcPts val="800"/>
              </a:spcAft>
            </a:pPr>
            <a:r>
              <a:rPr sz="1320" b="0">
                <a:solidFill>
                  <a:srgbClr val="232B38"/>
                </a:solidFill>
                <a:latin typeface="Aptos"/>
              </a:rPr>
              <a:t>• Menor riesgo de versiones contradictorias.</a:t>
            </a:r>
          </a:p>
          <a:p>
            <a:pPr>
              <a:spcAft>
                <a:spcPts val="800"/>
              </a:spcAft>
            </a:pPr>
            <a:r>
              <a:rPr sz="1320" b="0">
                <a:solidFill>
                  <a:srgbClr val="232B38"/>
                </a:solidFill>
                <a:latin typeface="Aptos"/>
              </a:rPr>
              <a:t>• Reutilización de tablas Delta entre experiencias.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Copiar es válido cuando existe una razón; duplicar por costumbre no es una arquitectura.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ame_copy.png">
            <a:hlinkClick r:id="rId3"/>
          </p:cNvPr>
          <p:cNvPicPr>
            <a:picLocks noChangeAspect="1"/>
          </p:cNvPicPr>
          <p:nvPr/>
        </p:nvPicPr>
        <p:blipFill>
          <a:blip r:embed="rId2"/>
          <a:stretch>
            <a:fillRect/>
          </a:stretch>
        </p:blipFill>
        <p:spPr>
          <a:xfrm>
            <a:off x="6711696" y="2329799"/>
            <a:ext cx="4443984" cy="2756184"/>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 misma copia de datos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ONELAKE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OneLake Catalog: encontrar antes de conectar</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El catálogo permite descubrir, explorar y utilizar elementos de Fabric.</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OneLake Catalog centraliza los elementos que una persona puede consultar o solicitar. Sus vistas permiten explorar activos, revisar detalles y comprender señales de confianza, ubicación, propietario, actualización, sensibilidad y linaje.</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Explorar activos disponibles en el tenant.</a:t>
            </a:r>
          </a:p>
          <a:p>
            <a:pPr>
              <a:spcAft>
                <a:spcPts val="800"/>
              </a:spcAft>
            </a:pPr>
            <a:r>
              <a:rPr sz="1320" b="0">
                <a:solidFill>
                  <a:srgbClr val="232B38"/>
                </a:solidFill>
                <a:latin typeface="Aptos"/>
              </a:rPr>
              <a:t>• Filtrar por dominio, tipo, ubicación o etiqueta.</a:t>
            </a:r>
          </a:p>
          <a:p>
            <a:pPr>
              <a:spcAft>
                <a:spcPts val="800"/>
              </a:spcAft>
            </a:pPr>
            <a:r>
              <a:rPr sz="1320" b="0">
                <a:solidFill>
                  <a:srgbClr val="232B38"/>
                </a:solidFill>
                <a:latin typeface="Aptos"/>
              </a:rPr>
              <a:t>• Evitar crear una copia de un activo que ya existe.</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En DP-600, descubrir datos precede a elegir cómo acceder a ellos.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0_f823b870.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Discover data by using OneLake catalog</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Catalog</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DECISIÓN RÁPIDA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¿Cuántos OneLake existen?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Selecciona una respuesta antes de continuar.</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Una empresa tiene cuatro departamentos, doce workspaces y veinte Lakehouses. La pregunta busca distinguir el lago lógico del tenant respecto de los contenedores y elementos que organizan los datos.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Vota A, B o C en el chat.</a:t>
            </a:r>
          </a:p>
          <a:p>
            <a:pPr>
              <a:spcAft>
                <a:spcPts val="800"/>
              </a:spcAft>
            </a:pPr>
            <a:r>
              <a:rPr sz="1320" b="0">
                <a:solidFill>
                  <a:srgbClr val="232B38"/>
                </a:solidFill>
                <a:latin typeface="Aptos"/>
              </a:rPr>
              <a:t>• Justifica la respuesta con una sola frase.</a:t>
            </a:r>
          </a:p>
        </p:txBody>
      </p:sp>
      <p:sp>
        <p:nvSpPr>
          <p:cNvPr id="8" name="Rounded Rectangle 7"/>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11_65ea643b.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0" name="TextBox 9">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1" name="Rectangle 10"/>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OneLake fundamentals</a:t>
            </a:r>
          </a:p>
        </p:txBody>
      </p:sp>
      <p:sp>
        <p:nvSpPr>
          <p:cNvPr id="13" name="TextBox 12">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OneLake</a:t>
            </a:r>
          </a:p>
        </p:txBody>
      </p:sp>
      <p:sp>
        <p:nvSpPr>
          <p:cNvPr id="14" name="TextBox 13"/>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RESPUESTA RAZONADA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Un OneLake lógico por tenant</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Los workspaces y elementos organizan el contenido dentro del mismo lago.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respuesta correcta es C. OneLake se incluye automáticamente con el tenant de Fabric y proporciona un espacio lógico unificado. Los workspaces no crean lagos independientes; organizan los elementos y aplican límites de colaboración y gobierno.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OneLake: almacenamiento lógico organizacional.</a:t>
            </a:r>
          </a:p>
          <a:p>
            <a:pPr>
              <a:spcAft>
                <a:spcPts val="800"/>
              </a:spcAft>
            </a:pPr>
            <a:r>
              <a:rPr sz="1320" b="0">
                <a:solidFill>
                  <a:srgbClr val="232B38"/>
                </a:solidFill>
                <a:latin typeface="Aptos"/>
              </a:rPr>
              <a:t>• Workspace: contenedor de colaboración.</a:t>
            </a:r>
          </a:p>
          <a:p>
            <a:pPr>
              <a:spcAft>
                <a:spcPts val="800"/>
              </a:spcAft>
            </a:pPr>
            <a:r>
              <a:rPr sz="1320" b="0">
                <a:solidFill>
                  <a:srgbClr val="232B38"/>
                </a:solidFill>
                <a:latin typeface="Aptos"/>
              </a:rPr>
              <a:t>• Lakehouse: elemento con Files y Tables.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Recordatorio de examen: no confundir almacenamiento, contenedor e item.</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2_f79ea3e5.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OneLake fundamentals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Arquitectura de Microsoft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4846320" cy="274320"/>
          </a:xfrm>
          <a:prstGeom prst="rect">
            <a:avLst/>
          </a:prstGeom>
          <a:noFill/>
        </p:spPr>
        <p:txBody>
          <a:bodyPr wrap="square" lIns="0" rIns="0" tIns="0" bIns="0">
            <a:normAutofit/>
          </a:bodyPr>
          <a:lstStyle/>
          <a:p>
            <a:r>
              <a:rPr sz="1100" b="1">
                <a:solidFill>
                  <a:srgbClr val="82E0E5"/>
                </a:solidFill>
                <a:latin typeface="Aptos"/>
              </a:rPr>
              <a:t>20-40 MIN</a:t>
            </a:r>
          </a:p>
        </p:txBody>
      </p:sp>
      <p:sp>
        <p:nvSpPr>
          <p:cNvPr id="4" name="TextBox 3"/>
          <p:cNvSpPr txBox="1"/>
          <p:nvPr/>
        </p:nvSpPr>
        <p:spPr>
          <a:xfrm>
            <a:off x="685800" y="1225296"/>
            <a:ext cx="5166360" cy="1005840"/>
          </a:xfrm>
          <a:prstGeom prst="rect">
            <a:avLst/>
          </a:prstGeom>
          <a:noFill/>
        </p:spPr>
        <p:txBody>
          <a:bodyPr wrap="square" lIns="0" rIns="0" tIns="0" bIns="0">
            <a:normAutofit/>
          </a:bodyPr>
          <a:lstStyle/>
          <a:p>
            <a:r>
              <a:rPr sz="3100" b="1">
                <a:solidFill>
                  <a:srgbClr val="FFFFFF"/>
                </a:solidFill>
                <a:latin typeface="Aptos"/>
              </a:rPr>
              <a:t>2. Parquet, Delta y Lakehouse</a:t>
            </a:r>
          </a:p>
        </p:txBody>
      </p:sp>
      <p:sp>
        <p:nvSpPr>
          <p:cNvPr id="5" name="TextBox 4"/>
          <p:cNvSpPr txBox="1"/>
          <p:nvPr/>
        </p:nvSpPr>
        <p:spPr>
          <a:xfrm>
            <a:off x="704088" y="2514600"/>
            <a:ext cx="5029200" cy="1024128"/>
          </a:xfrm>
          <a:prstGeom prst="rect">
            <a:avLst/>
          </a:prstGeom>
          <a:noFill/>
        </p:spPr>
        <p:txBody>
          <a:bodyPr wrap="square" lIns="0" rIns="0" tIns="0" bIns="0">
            <a:normAutofit/>
          </a:bodyPr>
          <a:lstStyle/>
          <a:p>
            <a:r>
              <a:rPr sz="1700" b="0">
                <a:solidFill>
                  <a:srgbClr val="DAE5F0"/>
                </a:solidFill>
                <a:latin typeface="Aptos"/>
              </a:rPr>
              <a:t>Del archivo recibido a una tabla confiable que pueda consultarse desde varios motores.</a:t>
            </a:r>
          </a:p>
        </p:txBody>
      </p:sp>
      <p:sp>
        <p:nvSpPr>
          <p:cNvPr id="6" name="TextBox 5">
            <a:hlinkClick r:id="rId2"/>
          </p:cNvPr>
          <p:cNvSpPr txBox="1"/>
          <p:nvPr/>
        </p:nvSpPr>
        <p:spPr>
          <a:xfrm>
            <a:off x="704088" y="5340096"/>
            <a:ext cx="4434840" cy="219456"/>
          </a:xfrm>
          <a:prstGeom prst="rect">
            <a:avLst/>
          </a:prstGeom>
          <a:noFill/>
        </p:spPr>
        <p:txBody>
          <a:bodyPr wrap="square" lIns="0" rIns="0" tIns="0" bIns="0">
            <a:normAutofit/>
          </a:bodyPr>
          <a:lstStyle/>
          <a:p>
            <a:r>
              <a:rPr sz="1000" b="1">
                <a:solidFill>
                  <a:srgbClr val="FFFFFF"/>
                </a:solidFill>
                <a:latin typeface="Aptos"/>
                <a:hlinkClick r:id="rId2"/>
              </a:rPr>
              <a:t>Microsoft Learn</a:t>
            </a:r>
          </a:p>
        </p:txBody>
      </p:sp>
      <p:sp>
        <p:nvSpPr>
          <p:cNvPr id="7" name="Rounded Rectangle 6"/>
          <p:cNvSpPr/>
          <p:nvPr/>
        </p:nvSpPr>
        <p:spPr>
          <a:xfrm>
            <a:off x="6053328" y="685800"/>
            <a:ext cx="5422392" cy="5248656"/>
          </a:xfrm>
          <a:prstGeom prst="roundRect">
            <a:avLst/>
          </a:prstGeom>
          <a:solidFill>
            <a:srgbClr val="FFFFFF"/>
          </a:solidFill>
          <a:ln>
            <a:solidFill>
              <a:srgbClr val="597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13_b5af878a.png">
            <a:hlinkClick r:id="rId2"/>
          </p:cNvPr>
          <p:cNvPicPr>
            <a:picLocks noChangeAspect="1"/>
          </p:cNvPicPr>
          <p:nvPr/>
        </p:nvPicPr>
        <p:blipFill>
          <a:blip r:embed="rId3"/>
          <a:stretch>
            <a:fillRect/>
          </a:stretch>
        </p:blipFill>
        <p:spPr>
          <a:xfrm>
            <a:off x="6236208" y="1666493"/>
            <a:ext cx="5056632" cy="3250692"/>
          </a:xfrm>
          <a:prstGeom prst="rect">
            <a:avLst/>
          </a:prstGeom>
        </p:spPr>
      </p:pic>
      <p:sp>
        <p:nvSpPr>
          <p:cNvPr id="9" name="Rectangle 8"/>
          <p:cNvSpPr/>
          <p:nvPr/>
        </p:nvSpPr>
        <p:spPr>
          <a:xfrm>
            <a:off x="0" y="6108192"/>
            <a:ext cx="12191695" cy="74980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45936"/>
            <a:ext cx="9692640" cy="201168"/>
          </a:xfrm>
          <a:prstGeom prst="rect">
            <a:avLst/>
          </a:prstGeom>
          <a:noFill/>
        </p:spPr>
        <p:txBody>
          <a:bodyPr wrap="square" lIns="0" rIns="0" tIns="0" bIns="0">
            <a:normAutofit/>
          </a:bodyPr>
          <a:lstStyle/>
          <a:p>
            <a:r>
              <a:rPr sz="900" b="0">
                <a:solidFill>
                  <a:srgbClr val="FFFFFF"/>
                </a:solidFill>
                <a:latin typeface="Aptos"/>
              </a:rPr>
              <a:t>Data Days Study Group DP-600 · Sesión 3</a:t>
            </a:r>
          </a:p>
        </p:txBody>
      </p:sp>
      <p:sp>
        <p:nvSpPr>
          <p:cNvPr id="11" name="TextBox 10"/>
          <p:cNvSpPr txBox="1"/>
          <p:nvPr/>
        </p:nvSpPr>
        <p:spPr>
          <a:xfrm>
            <a:off x="11045952" y="6327648"/>
            <a:ext cx="365760" cy="201168"/>
          </a:xfrm>
          <a:prstGeom prst="rect">
            <a:avLst/>
          </a:prstGeom>
          <a:noFill/>
        </p:spPr>
        <p:txBody>
          <a:bodyPr wrap="square" lIns="0" rIns="0" tIns="0" bIns="0">
            <a:normAutofit/>
          </a:bodyPr>
          <a:lstStyle/>
          <a:p>
            <a:pPr algn="r"/>
            <a:r>
              <a:rPr sz="900" b="1">
                <a:solidFill>
                  <a:srgbClr val="FFFFFF"/>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FORMATOS</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CSV, Parquet y Delta no son equivalentes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Cada opción resuelve una necesidad distinta dentro del flujo analítico.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CSV es un archivo de texto sencillo e interoperable, pero no conserva tipos ni transacciones. Parquet almacena datos por columnas y mejora la lectura analítica. Delta utiliza archivos Parquet junto con un registro transaccional para administrar tablas confiables.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CSV: intercambio y aterrizaje simple.</a:t>
            </a:r>
          </a:p>
          <a:p>
            <a:pPr>
              <a:spcAft>
                <a:spcPts val="800"/>
              </a:spcAft>
            </a:pPr>
            <a:r>
              <a:rPr sz="1320" b="0">
                <a:solidFill>
                  <a:srgbClr val="232B38"/>
                </a:solidFill>
                <a:latin typeface="Aptos"/>
              </a:rPr>
              <a:t>• Parquet: almacenamiento columnar eficiente.</a:t>
            </a:r>
          </a:p>
          <a:p>
            <a:pPr>
              <a:spcAft>
                <a:spcPts val="800"/>
              </a:spcAft>
            </a:pPr>
            <a:r>
              <a:rPr sz="1320" b="0">
                <a:solidFill>
                  <a:srgbClr val="232B38"/>
                </a:solidFill>
                <a:latin typeface="Aptos"/>
              </a:rPr>
              <a:t>• Delta: tabla con integridad, versiones y evolución de esquema.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Una tabla Delta no es solamente un archivo Parquet renombrado.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4_7a5f0f03.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Choose data stores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Delta Lake en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PARQUET</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Lectura columnar para analítica</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Parquet permite leer solo las columnas necesarias y aplicar compresión eficiente.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Los reportes suelen consultar unas pocas columnas entre muchas disponibles. El almacenamiento columnar agrupa valores del mismo tipo, reduce lectura innecesaria y facilita compresión, por lo que resulta adecuado para cargas analíticas.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Favorece agregaciones y filtros sobre columnas.</a:t>
            </a:r>
          </a:p>
          <a:p>
            <a:pPr>
              <a:spcAft>
                <a:spcPts val="800"/>
              </a:spcAft>
            </a:pPr>
            <a:r>
              <a:rPr sz="1320" b="0">
                <a:solidFill>
                  <a:srgbClr val="232B38"/>
                </a:solidFill>
                <a:latin typeface="Aptos"/>
              </a:rPr>
              <a:t>• Reduce transferencia cuando no se necesita toda la fila.</a:t>
            </a:r>
          </a:p>
          <a:p>
            <a:pPr>
              <a:spcAft>
                <a:spcPts val="800"/>
              </a:spcAft>
            </a:pPr>
            <a:r>
              <a:rPr sz="1320" b="0">
                <a:solidFill>
                  <a:srgbClr val="232B38"/>
                </a:solidFill>
                <a:latin typeface="Aptos"/>
              </a:rPr>
              <a:t>• Es la base física utilizada por tablas Delta.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Parquet optimiza el archivo; Delta administra la tabla.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5_da945b94.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and query analytical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Delta Lake en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DELTA LAKE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Parquet más registro transaccional</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El transaction log convierte un conjunto de archivos en una tabla administrable.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Delta Lake combina archivos Parquet con un registro que describe cada operación realizada. Esta capa permite transacciones ACID, control de esquema, evolución y recuperación de versiones, capacidades que un directorio de archivos planos no proporciona por sí solo.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ACID: operaciones consistentes y durables.</a:t>
            </a:r>
          </a:p>
          <a:p>
            <a:pPr>
              <a:spcAft>
                <a:spcPts val="800"/>
              </a:spcAft>
            </a:pPr>
            <a:r>
              <a:rPr sz="1320" b="0">
                <a:solidFill>
                  <a:srgbClr val="232B38"/>
                </a:solidFill>
                <a:latin typeface="Aptos"/>
              </a:rPr>
              <a:t>• Time travel: consulta o recuperación de versiones.</a:t>
            </a:r>
          </a:p>
          <a:p>
            <a:pPr>
              <a:spcAft>
                <a:spcPts val="800"/>
              </a:spcAft>
            </a:pPr>
            <a:r>
              <a:rPr sz="1320" b="0">
                <a:solidFill>
                  <a:srgbClr val="232B38"/>
                </a:solidFill>
                <a:latin typeface="Aptos"/>
              </a:rPr>
              <a:t>• Schema evolution: cambios controlados de estructura.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Delta aporta fiabilidad sin abandonar formatos abiertos.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6_ee1f57be.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Data stores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Delta Lake overview</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DELTA LAKE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Por qué Delta es central en Fabric</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El formato compartido permite que varias experiencias utilicen los mismos datos.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Fabric utiliza Delta Lake como formato universal para que Lakehouse, Warehouse, pipelines, notebooks y Power BI puedan interoperar. La tabla escrita por una experiencia queda disponible para otras sin crear un proceso ETL adicional entre cada motor.</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Interoperabilidad entre Spark, SQL y Direct Lake.</a:t>
            </a:r>
          </a:p>
          <a:p>
            <a:pPr>
              <a:spcAft>
                <a:spcPts val="800"/>
              </a:spcAft>
            </a:pPr>
            <a:r>
              <a:rPr sz="1320" b="0">
                <a:solidFill>
                  <a:srgbClr val="232B38"/>
                </a:solidFill>
                <a:latin typeface="Aptos"/>
              </a:rPr>
              <a:t>• Menos copias y menor latencia entre experiencias.</a:t>
            </a:r>
          </a:p>
          <a:p>
            <a:pPr>
              <a:spcAft>
                <a:spcPts val="800"/>
              </a:spcAft>
            </a:pPr>
            <a:r>
              <a:rPr sz="1320" b="0">
                <a:solidFill>
                  <a:srgbClr val="232B38"/>
                </a:solidFill>
                <a:latin typeface="Aptos"/>
              </a:rPr>
              <a:t>• Formato abierto y portable.</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OneLake unifica la ubicación; Delta unifica la representación tabular.</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7_90c8d376.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transform and query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Delta Lake overview</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LAKEHOUSE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Files y Tables en un mismo elemento</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El Lakehouse combina flexibilidad de archivos y estructura de tablas Delta.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Un Lakehouse permite conservar archivos y administrar tablas dentro del mismo elemento. Spark puede trabajar con ambas zonas, mientras que el SQL analytics endpoint expone las tablas Delta registradas para consultas T-SQL de solo lectura.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Files: archivos y carpetas de trabajo.</a:t>
            </a:r>
          </a:p>
          <a:p>
            <a:pPr>
              <a:spcAft>
                <a:spcPts val="800"/>
              </a:spcAft>
            </a:pPr>
            <a:r>
              <a:rPr sz="1320" b="0">
                <a:solidFill>
                  <a:srgbClr val="232B38"/>
                </a:solidFill>
                <a:latin typeface="Aptos"/>
              </a:rPr>
              <a:t>• Tables: tablas Delta reconocidas por el metastore.</a:t>
            </a:r>
          </a:p>
          <a:p>
            <a:pPr>
              <a:spcAft>
                <a:spcPts val="800"/>
              </a:spcAft>
            </a:pPr>
            <a:r>
              <a:rPr sz="1320" b="0">
                <a:solidFill>
                  <a:srgbClr val="232B38"/>
                </a:solidFill>
                <a:latin typeface="Aptos"/>
              </a:rPr>
              <a:t>• SQL analytics endpoint: superficie relacional sobre Tables.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elección Files o Tables depende de madurez, estructura y consumo.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akehouse_overview.png">
            <a:hlinkClick r:id="rId3"/>
          </p:cNvPr>
          <p:cNvPicPr>
            <a:picLocks noChangeAspect="1"/>
          </p:cNvPicPr>
          <p:nvPr/>
        </p:nvPicPr>
        <p:blipFill>
          <a:blip r:embed="rId2"/>
          <a:stretch>
            <a:fillRect/>
          </a:stretch>
        </p:blipFill>
        <p:spPr>
          <a:xfrm>
            <a:off x="6711696" y="2635459"/>
            <a:ext cx="4443984" cy="2144865"/>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Choose between different data stores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Lakehouse</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LAKEHOUSE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Files conserva y organiza archivos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Zona adecuada para datos originales, semiestructurados o aún no registrados como tabla.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Files contiene carpetas y archivos en formatos como CSV, JSON, imágenes o Parquet. Es útil para preservar el origen, aplicar validaciones y mantener evidencia de lo recibido. Un CSV ubicado en Files no aparece automáticamente como tabla en el SQL endpoint.</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Conservar el archivo original para trazabilidad.</a:t>
            </a:r>
          </a:p>
          <a:p>
            <a:pPr>
              <a:spcAft>
                <a:spcPts val="800"/>
              </a:spcAft>
            </a:pPr>
            <a:r>
              <a:rPr sz="1320" b="0">
                <a:solidFill>
                  <a:srgbClr val="232B38"/>
                </a:solidFill>
                <a:latin typeface="Aptos"/>
              </a:rPr>
              <a:t>• Separar carpetas por origen, fecha o estado de procesamiento.</a:t>
            </a:r>
          </a:p>
          <a:p>
            <a:pPr>
              <a:spcAft>
                <a:spcPts val="800"/>
              </a:spcAft>
            </a:pPr>
            <a:r>
              <a:rPr sz="1320" b="0">
                <a:solidFill>
                  <a:srgbClr val="232B38"/>
                </a:solidFill>
                <a:latin typeface="Aptos"/>
              </a:rPr>
              <a:t>• Aplicar transformaciones antes de servir el dato.</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Files representa almacenamiento de archivos; no garantiza una tabla consultable.</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19_88777e87.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Lakehouse</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LAKEHOUSE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Tables sirve datos estructurados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Las tablas Delta proporcionan esquema, consulta y consumo analítico.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Tables contiene datos registrados en formato Delta. Estas tablas pueden consultarse mediante Spark y aparecen en el SQL analytics endpoint, lo que facilita exploración con T-SQL y conexión posterior con modelos semánticos y Power BI.</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Esquema y tipos definidos.</a:t>
            </a:r>
          </a:p>
          <a:p>
            <a:pPr>
              <a:spcAft>
                <a:spcPts val="800"/>
              </a:spcAft>
            </a:pPr>
            <a:r>
              <a:rPr sz="1320" b="0">
                <a:solidFill>
                  <a:srgbClr val="232B38"/>
                </a:solidFill>
                <a:latin typeface="Aptos"/>
              </a:rPr>
              <a:t>• Consulta desde Spark y SQL.</a:t>
            </a:r>
          </a:p>
          <a:p>
            <a:pPr>
              <a:spcAft>
                <a:spcPts val="800"/>
              </a:spcAft>
            </a:pPr>
            <a:r>
              <a:rPr sz="1320" b="0">
                <a:solidFill>
                  <a:srgbClr val="232B38"/>
                </a:solidFill>
                <a:latin typeface="Aptos"/>
              </a:rPr>
              <a:t>• Base para Direct Lake y modelos semánticos.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Tables es la zona de servicio cuando el dato ya tiene estructura analítica.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0_9a9aa9cc.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Query and analyze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Lakehouse</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LAKEHOUSE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Files o Tables: decisión rápida</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ubicación debe responder al estado y al uso esperado del dato.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Un mismo dato puede comenzar en Files y terminar en Tables. La primera zona conserva el archivo y permite trabajar con estructuras flexibles; la segunda expone una tabla Delta estable para consultas, modelos y reportes.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CSV recién recibido y sin validar → Files.</a:t>
            </a:r>
          </a:p>
          <a:p>
            <a:pPr>
              <a:spcAft>
                <a:spcPts val="800"/>
              </a:spcAft>
            </a:pPr>
            <a:r>
              <a:rPr sz="1320" b="0">
                <a:solidFill>
                  <a:srgbClr val="232B38"/>
                </a:solidFill>
                <a:latin typeface="Aptos"/>
              </a:rPr>
              <a:t>• Tabla de ventas tipada y validada → Tables.</a:t>
            </a:r>
          </a:p>
          <a:p>
            <a:pPr>
              <a:spcAft>
                <a:spcPts val="800"/>
              </a:spcAft>
            </a:pPr>
            <a:r>
              <a:rPr sz="1320" b="0">
                <a:solidFill>
                  <a:srgbClr val="232B38"/>
                </a:solidFill>
                <a:latin typeface="Aptos"/>
              </a:rPr>
              <a:t>• Imágenes de productos → Files.</a:t>
            </a:r>
          </a:p>
          <a:p>
            <a:pPr>
              <a:spcAft>
                <a:spcPts val="800"/>
              </a:spcAft>
            </a:pPr>
            <a:r>
              <a:rPr sz="1320" b="0">
                <a:solidFill>
                  <a:srgbClr val="232B38"/>
                </a:solidFill>
                <a:latin typeface="Aptos"/>
              </a:rPr>
              <a:t>• Dimensión de clientes para Power BI → Tables.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Files para conservar y preparar; Tables para consultar y servir.</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1_2da29cd0.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Choose data stores · Query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Lakehouse</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CARGA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De CSV a tabla Delta</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Load to tables convierte CSV o Parquet en una tabla Delta.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flujo comienza cargando el archivo dentro de Files. La opción Load to tables permite crear una tabla nueva o escribir en una existente y mantiene el resultado en formato Delta. Cuando se necesita controlar explícitamente el esquema, conviene utilizar un Notebook.</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Cargar ventas.csv en Files/raw.</a:t>
            </a:r>
          </a:p>
          <a:p>
            <a:pPr>
              <a:spcAft>
                <a:spcPts val="800"/>
              </a:spcAft>
            </a:pPr>
            <a:r>
              <a:rPr sz="1320" b="0">
                <a:solidFill>
                  <a:srgbClr val="232B38"/>
                </a:solidFill>
                <a:latin typeface="Aptos"/>
              </a:rPr>
              <a:t>• Seleccionar Load to tables y crear dbo.ventas.</a:t>
            </a:r>
          </a:p>
          <a:p>
            <a:pPr>
              <a:spcAft>
                <a:spcPts val="800"/>
              </a:spcAft>
            </a:pPr>
            <a:r>
              <a:rPr sz="1320" b="0">
                <a:solidFill>
                  <a:srgbClr val="232B38"/>
                </a:solidFill>
                <a:latin typeface="Aptos"/>
              </a:rPr>
              <a:t>• Revisar encabezados, separador y modo de escritura.</a:t>
            </a:r>
          </a:p>
          <a:p>
            <a:pPr>
              <a:spcAft>
                <a:spcPts val="800"/>
              </a:spcAft>
            </a:pPr>
            <a:r>
              <a:rPr sz="1320" b="0">
                <a:solidFill>
                  <a:srgbClr val="232B38"/>
                </a:solidFill>
                <a:latin typeface="Aptos"/>
              </a:rPr>
              <a:t>• Validar filas, tipos y tabla resultante.</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conversión crea estructura; la validación confirma que esa estructura es correcta.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2_fab32cd3.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data · Convert data types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Load to Delta Lake tables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LAKEHOUSE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SQL analytics endpoint</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Superficie T-SQL de solo lectura sobre las tablas Delta del Lakehouse.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Cada Lakehouse aprovisiona automáticamente un SQL analytics endpoint. Solo las tablas Delta registradas aparecen en esta experiencia; un CSV almacenado en Files no puede consultarse directamente desde ella. Las modificaciones deben realizarse mediante el Lakehouse y Spark.</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Consulta relacional con T-SQL.</a:t>
            </a:r>
          </a:p>
          <a:p>
            <a:pPr>
              <a:spcAft>
                <a:spcPts val="800"/>
              </a:spcAft>
            </a:pPr>
            <a:r>
              <a:rPr sz="1320" b="0">
                <a:solidFill>
                  <a:srgbClr val="232B38"/>
                </a:solidFill>
                <a:latin typeface="Aptos"/>
              </a:rPr>
              <a:t>• Solo lectura sobre los datos del Lakehouse.</a:t>
            </a:r>
          </a:p>
          <a:p>
            <a:pPr>
              <a:spcAft>
                <a:spcPts val="800"/>
              </a:spcAft>
            </a:pPr>
            <a:r>
              <a:rPr sz="1320" b="0">
                <a:solidFill>
                  <a:srgbClr val="232B38"/>
                </a:solidFill>
                <a:latin typeface="Aptos"/>
              </a:rPr>
              <a:t>• Disponible sin administrar infraestructura SQL.</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Si la tabla no aparece, primero confirma que está registrada y almacenada como Delta.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3_16eeade1.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Select and filter data by using SQL</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SQL analytics endpoint</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DECISIÓN RÁPIDA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El CSV no aparece en SQL</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Selecciona la causa más probable.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ventas.csv se cargó correctamente en Files/raw y puede abrirse desde el explorador del Lakehouse. Sin embargo, al cambiar al SQL analytics endpoint no aparece ningún objeto llamado ventas.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Vota A, B o C.</a:t>
            </a:r>
          </a:p>
          <a:p>
            <a:pPr>
              <a:spcAft>
                <a:spcPts val="800"/>
              </a:spcAft>
            </a:pPr>
            <a:r>
              <a:rPr sz="1320" b="0">
                <a:solidFill>
                  <a:srgbClr val="232B38"/>
                </a:solidFill>
                <a:latin typeface="Aptos"/>
              </a:rPr>
              <a:t>• Relaciona la respuesta con Files, Tables y Delta.</a:t>
            </a:r>
          </a:p>
        </p:txBody>
      </p:sp>
      <p:sp>
        <p:nvSpPr>
          <p:cNvPr id="8" name="Rounded Rectangle 7"/>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24_2ba8ea5d.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0" name="TextBox 9">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1" name="Rectangle 10"/>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Query data by using SQL</a:t>
            </a:r>
          </a:p>
        </p:txBody>
      </p:sp>
      <p:sp>
        <p:nvSpPr>
          <p:cNvPr id="13" name="TextBox 12">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Introducción a Lakehouse</a:t>
            </a:r>
          </a:p>
        </p:txBody>
      </p:sp>
      <p:sp>
        <p:nvSpPr>
          <p:cNvPr id="14" name="TextBox 13"/>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RESPUESTA RAZONADA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Files no equivale a una tabla Delta</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respuesta correcta es 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SQL analytics endpoint expone tablas Delta del Lakehouse. El archivo CSV permanece como un objeto dentro de Files hasta que se convierta o se procese para crear una tabla. Load to tables es una forma sencilla de realizar esa conversión.</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Files/raw/ventas.csv conserva el archivo.</a:t>
            </a:r>
          </a:p>
          <a:p>
            <a:pPr>
              <a:spcAft>
                <a:spcPts val="800"/>
              </a:spcAft>
            </a:pPr>
            <a:r>
              <a:rPr sz="1320" b="0">
                <a:solidFill>
                  <a:srgbClr val="232B38"/>
                </a:solidFill>
                <a:latin typeface="Aptos"/>
              </a:rPr>
              <a:t>• Tables/dbo/ventas registra una tabla Delta.</a:t>
            </a:r>
          </a:p>
          <a:p>
            <a:pPr>
              <a:spcAft>
                <a:spcPts val="800"/>
              </a:spcAft>
            </a:pPr>
            <a:r>
              <a:rPr sz="1320" b="0">
                <a:solidFill>
                  <a:srgbClr val="232B38"/>
                </a:solidFill>
                <a:latin typeface="Aptos"/>
              </a:rPr>
              <a:t>• El SQL endpoint consulta dbo.ventas.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Ubicación física y representación tabular son conceptos diferentes.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5_a559c1cc.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and query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Load to Delta Lake tables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4846320" cy="274320"/>
          </a:xfrm>
          <a:prstGeom prst="rect">
            <a:avLst/>
          </a:prstGeom>
          <a:noFill/>
        </p:spPr>
        <p:txBody>
          <a:bodyPr wrap="square" lIns="0" rIns="0" tIns="0" bIns="0">
            <a:normAutofit/>
          </a:bodyPr>
          <a:lstStyle/>
          <a:p>
            <a:r>
              <a:rPr sz="1100" b="1">
                <a:solidFill>
                  <a:srgbClr val="82E0E5"/>
                </a:solidFill>
                <a:latin typeface="Aptos"/>
              </a:rPr>
              <a:t>40-60 MIN</a:t>
            </a:r>
          </a:p>
        </p:txBody>
      </p:sp>
      <p:sp>
        <p:nvSpPr>
          <p:cNvPr id="4" name="TextBox 3"/>
          <p:cNvSpPr txBox="1"/>
          <p:nvPr/>
        </p:nvSpPr>
        <p:spPr>
          <a:xfrm>
            <a:off x="685800" y="1225296"/>
            <a:ext cx="5166360" cy="1005840"/>
          </a:xfrm>
          <a:prstGeom prst="rect">
            <a:avLst/>
          </a:prstGeom>
          <a:noFill/>
        </p:spPr>
        <p:txBody>
          <a:bodyPr wrap="square" lIns="0" rIns="0" tIns="0" bIns="0">
            <a:normAutofit/>
          </a:bodyPr>
          <a:lstStyle/>
          <a:p>
            <a:r>
              <a:rPr sz="3100" b="1">
                <a:solidFill>
                  <a:srgbClr val="FFFFFF"/>
                </a:solidFill>
                <a:latin typeface="Aptos"/>
              </a:rPr>
              <a:t>3. Copiar, referenciar o replicar</a:t>
            </a:r>
          </a:p>
        </p:txBody>
      </p:sp>
      <p:sp>
        <p:nvSpPr>
          <p:cNvPr id="5" name="TextBox 4"/>
          <p:cNvSpPr txBox="1"/>
          <p:nvPr/>
        </p:nvSpPr>
        <p:spPr>
          <a:xfrm>
            <a:off x="704088" y="2514600"/>
            <a:ext cx="5029200" cy="1024128"/>
          </a:xfrm>
          <a:prstGeom prst="rect">
            <a:avLst/>
          </a:prstGeom>
          <a:noFill/>
        </p:spPr>
        <p:txBody>
          <a:bodyPr wrap="square" lIns="0" rIns="0" tIns="0" bIns="0">
            <a:normAutofit/>
          </a:bodyPr>
          <a:lstStyle/>
          <a:p>
            <a:r>
              <a:rPr sz="1700" b="0">
                <a:solidFill>
                  <a:srgbClr val="DAE5F0"/>
                </a:solidFill>
                <a:latin typeface="Aptos"/>
              </a:rPr>
              <a:t>La fuente, la latencia, la transformación y el gobierno determinan el patrón de acceso.</a:t>
            </a:r>
          </a:p>
        </p:txBody>
      </p:sp>
      <p:sp>
        <p:nvSpPr>
          <p:cNvPr id="6" name="TextBox 5">
            <a:hlinkClick r:id="rId2"/>
          </p:cNvPr>
          <p:cNvSpPr txBox="1"/>
          <p:nvPr/>
        </p:nvSpPr>
        <p:spPr>
          <a:xfrm>
            <a:off x="704088" y="5340096"/>
            <a:ext cx="4434840" cy="219456"/>
          </a:xfrm>
          <a:prstGeom prst="rect">
            <a:avLst/>
          </a:prstGeom>
          <a:noFill/>
        </p:spPr>
        <p:txBody>
          <a:bodyPr wrap="square" lIns="0" rIns="0" tIns="0" bIns="0">
            <a:normAutofit/>
          </a:bodyPr>
          <a:lstStyle/>
          <a:p>
            <a:r>
              <a:rPr sz="1000" b="1">
                <a:solidFill>
                  <a:srgbClr val="FFFFFF"/>
                </a:solidFill>
                <a:latin typeface="Aptos"/>
                <a:hlinkClick r:id="rId2"/>
              </a:rPr>
              <a:t>Microsoft Learn</a:t>
            </a:r>
          </a:p>
        </p:txBody>
      </p:sp>
      <p:sp>
        <p:nvSpPr>
          <p:cNvPr id="7" name="Rounded Rectangle 6"/>
          <p:cNvSpPr/>
          <p:nvPr/>
        </p:nvSpPr>
        <p:spPr>
          <a:xfrm>
            <a:off x="6053328" y="685800"/>
            <a:ext cx="5422392" cy="5248656"/>
          </a:xfrm>
          <a:prstGeom prst="roundRect">
            <a:avLst/>
          </a:prstGeom>
          <a:solidFill>
            <a:srgbClr val="FFFFFF"/>
          </a:solidFill>
          <a:ln>
            <a:solidFill>
              <a:srgbClr val="597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26_1ccf05f6.png">
            <a:hlinkClick r:id="rId2"/>
          </p:cNvPr>
          <p:cNvPicPr>
            <a:picLocks noChangeAspect="1"/>
          </p:cNvPicPr>
          <p:nvPr/>
        </p:nvPicPr>
        <p:blipFill>
          <a:blip r:embed="rId3"/>
          <a:stretch>
            <a:fillRect/>
          </a:stretch>
        </p:blipFill>
        <p:spPr>
          <a:xfrm>
            <a:off x="6236208" y="1666493"/>
            <a:ext cx="5056632" cy="3250692"/>
          </a:xfrm>
          <a:prstGeom prst="rect">
            <a:avLst/>
          </a:prstGeom>
        </p:spPr>
      </p:pic>
      <p:sp>
        <p:nvSpPr>
          <p:cNvPr id="9" name="Rectangle 8"/>
          <p:cNvSpPr/>
          <p:nvPr/>
        </p:nvSpPr>
        <p:spPr>
          <a:xfrm>
            <a:off x="0" y="6108192"/>
            <a:ext cx="12191695" cy="74980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45936"/>
            <a:ext cx="9692640" cy="201168"/>
          </a:xfrm>
          <a:prstGeom prst="rect">
            <a:avLst/>
          </a:prstGeom>
          <a:noFill/>
        </p:spPr>
        <p:txBody>
          <a:bodyPr wrap="square" lIns="0" rIns="0" tIns="0" bIns="0">
            <a:normAutofit/>
          </a:bodyPr>
          <a:lstStyle/>
          <a:p>
            <a:r>
              <a:rPr sz="900" b="0">
                <a:solidFill>
                  <a:srgbClr val="FFFFFF"/>
                </a:solidFill>
                <a:latin typeface="Aptos"/>
              </a:rPr>
              <a:t>Data Days Study Group DP-600 · Sesión 3</a:t>
            </a:r>
          </a:p>
        </p:txBody>
      </p:sp>
      <p:sp>
        <p:nvSpPr>
          <p:cNvPr id="11" name="TextBox 10"/>
          <p:cNvSpPr txBox="1"/>
          <p:nvPr/>
        </p:nvSpPr>
        <p:spPr>
          <a:xfrm>
            <a:off x="11045952" y="6327648"/>
            <a:ext cx="365760" cy="201168"/>
          </a:xfrm>
          <a:prstGeom prst="rect">
            <a:avLst/>
          </a:prstGeom>
          <a:noFill/>
        </p:spPr>
        <p:txBody>
          <a:bodyPr wrap="square" lIns="0" rIns="0" tIns="0" bIns="0">
            <a:normAutofit/>
          </a:bodyPr>
          <a:lstStyle/>
          <a:p>
            <a:pPr algn="r"/>
            <a:r>
              <a:rPr sz="900" b="1">
                <a:solidFill>
                  <a:srgbClr val="FFFFFF"/>
                </a:solidFill>
                <a:latin typeface="Apto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CARGA FÍSICA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Copiar para controlar, transformar o conservar</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carga física crea una copia administrada dentro de OneLake.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Copiar resulta adecuado cuando se necesita preservar un snapshot, aplicar transformaciones, controlar el ciclo de actualización o desacoplar el consumo del origen. La copia introduce responsabilidad sobre sincronización, almacenamiento, calidad y recuperación ante errores.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Archivos históricos o entregas periódicas.</a:t>
            </a:r>
          </a:p>
          <a:p>
            <a:pPr>
              <a:spcAft>
                <a:spcPts val="800"/>
              </a:spcAft>
            </a:pPr>
            <a:r>
              <a:rPr sz="1320" b="0">
                <a:solidFill>
                  <a:srgbClr val="232B38"/>
                </a:solidFill>
                <a:latin typeface="Aptos"/>
              </a:rPr>
              <a:t>• Necesidad de conservar una versión propia.</a:t>
            </a:r>
          </a:p>
          <a:p>
            <a:pPr>
              <a:spcAft>
                <a:spcPts val="800"/>
              </a:spcAft>
            </a:pPr>
            <a:r>
              <a:rPr sz="1320" b="0">
                <a:solidFill>
                  <a:srgbClr val="232B38"/>
                </a:solidFill>
                <a:latin typeface="Aptos"/>
              </a:rPr>
              <a:t>• Transformaciones antes de servir la información.</a:t>
            </a:r>
          </a:p>
          <a:p>
            <a:pPr>
              <a:spcAft>
                <a:spcPts val="800"/>
              </a:spcAft>
            </a:pPr>
            <a:r>
              <a:rPr sz="1320" b="0">
                <a:solidFill>
                  <a:srgbClr val="232B38"/>
                </a:solidFill>
                <a:latin typeface="Aptos"/>
              </a:rPr>
              <a:t>• Implementación mediante carga, Copy Job o Copy Activity.</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copia ofrece control, pero obliga a administrar frescura y duplicación.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7_f0a722e0.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de movimiento de datos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SHORTCUTS</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Referenciar datos sin copiarlos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Un Shortcut es un objeto que apunta a otra ubicación de almacenamiento.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Shortcut hace que datos internos o externos aparezcan dentro del espacio de OneLake sin crear inicialmente una copia completa. Reduce duplicación y tiempo de incorporación, pero mantiene dependencia sobre disponibilidad, permisos y estructura del origen.</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Acceso interno entre elementos o workspaces.</a:t>
            </a:r>
          </a:p>
          <a:p>
            <a:pPr>
              <a:spcAft>
                <a:spcPts val="800"/>
              </a:spcAft>
            </a:pPr>
            <a:r>
              <a:rPr sz="1320" b="0">
                <a:solidFill>
                  <a:srgbClr val="232B38"/>
                </a:solidFill>
                <a:latin typeface="Aptos"/>
              </a:rPr>
              <a:t>• Acceso externo a ADLS Gen2, Amazon S3 y otras fuentes compatibles.</a:t>
            </a:r>
          </a:p>
          <a:p>
            <a:pPr>
              <a:spcAft>
                <a:spcPts val="800"/>
              </a:spcAft>
            </a:pPr>
            <a:r>
              <a:rPr sz="1320" b="0">
                <a:solidFill>
                  <a:srgbClr val="232B38"/>
                </a:solidFill>
                <a:latin typeface="Aptos"/>
              </a:rPr>
              <a:t>• El destino original permanece intacto al eliminar el Shortcut.</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Shortcut es acceso lógico; no es una carga ni una réplica operacional.</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rtcut_connects.png">
            <a:hlinkClick r:id="rId3"/>
          </p:cNvPr>
          <p:cNvPicPr>
            <a:picLocks noChangeAspect="1"/>
          </p:cNvPicPr>
          <p:nvPr/>
        </p:nvPicPr>
        <p:blipFill>
          <a:blip r:embed="rId2"/>
          <a:stretch>
            <a:fillRect/>
          </a:stretch>
        </p:blipFill>
        <p:spPr>
          <a:xfrm>
            <a:off x="6711696" y="2785903"/>
            <a:ext cx="4443984" cy="184397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Shortcuts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SHORTCUTS</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Shortcut en Files o Tables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ubicación seleccionada determina cómo Fabric interpreta el destino.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En Files pueden crearse accesos a carpetas y formatos diversos. En Tables, el destino debe representar tablas compatibles, normalmente Delta, para que el Lakehouse sincronice metadatos y las exponga como tablas a los motores analíticos.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Files: acceso flexible a carpetas y archivos.</a:t>
            </a:r>
          </a:p>
          <a:p>
            <a:pPr>
              <a:spcAft>
                <a:spcPts val="800"/>
              </a:spcAft>
            </a:pPr>
            <a:r>
              <a:rPr sz="1320" b="0">
                <a:solidFill>
                  <a:srgbClr val="232B38"/>
                </a:solidFill>
                <a:latin typeface="Aptos"/>
              </a:rPr>
              <a:t>• Tables: acceso tabular con reconocimiento de formato.</a:t>
            </a:r>
          </a:p>
          <a:p>
            <a:pPr>
              <a:spcAft>
                <a:spcPts val="800"/>
              </a:spcAft>
            </a:pPr>
            <a:r>
              <a:rPr sz="1320" b="0">
                <a:solidFill>
                  <a:srgbClr val="232B38"/>
                </a:solidFill>
                <a:latin typeface="Aptos"/>
              </a:rPr>
              <a:t>• Revisar nombres, esquema, permisos y dependencia del origen.</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Un Shortcut en Tables debe apuntar a una estructura que Fabric pueda reconocer como tabla.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rtcut_files_tables.png">
            <a:hlinkClick r:id="rId3"/>
          </p:cNvPr>
          <p:cNvPicPr>
            <a:picLocks noChangeAspect="1"/>
          </p:cNvPicPr>
          <p:nvPr/>
        </p:nvPicPr>
        <p:blipFill>
          <a:blip r:embed="rId2"/>
          <a:stretch>
            <a:fillRect/>
          </a:stretch>
        </p:blipFill>
        <p:spPr>
          <a:xfrm>
            <a:off x="6910338" y="1856231"/>
            <a:ext cx="4046698" cy="3703320"/>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Access data · Query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Shortcuts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SHORTCUTS</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Creación y validación de un Shortcut</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Seleccionar origen, conexión, ruta y ubicación dentro del Lakehouse.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creación comienza desde Files o Tables y solicita el tipo de origen. Después se configura o reutiliza una conexión, se selecciona la ruta de destino y se revisa el resultado. La validación debe confirmar acceso, formato y comportamiento desde el motor consumidor.</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New shortcut desde la ubicación deseada.</a:t>
            </a:r>
          </a:p>
          <a:p>
            <a:pPr>
              <a:spcAft>
                <a:spcPts val="800"/>
              </a:spcAft>
            </a:pPr>
            <a:r>
              <a:rPr sz="1320" b="0">
                <a:solidFill>
                  <a:srgbClr val="232B38"/>
                </a:solidFill>
                <a:latin typeface="Aptos"/>
              </a:rPr>
              <a:t>• Seleccionar OneLake, ADLS Gen2 u otro origen compatible.</a:t>
            </a:r>
          </a:p>
          <a:p>
            <a:pPr>
              <a:spcAft>
                <a:spcPts val="800"/>
              </a:spcAft>
            </a:pPr>
            <a:r>
              <a:rPr sz="1320" b="0">
                <a:solidFill>
                  <a:srgbClr val="232B38"/>
                </a:solidFill>
                <a:latin typeface="Aptos"/>
              </a:rPr>
              <a:t>• Configurar identidad y permisos.</a:t>
            </a:r>
          </a:p>
          <a:p>
            <a:pPr>
              <a:spcAft>
                <a:spcPts val="800"/>
              </a:spcAft>
            </a:pPr>
            <a:r>
              <a:rPr sz="1320" b="0">
                <a:solidFill>
                  <a:srgbClr val="232B38"/>
                </a:solidFill>
                <a:latin typeface="Aptos"/>
              </a:rPr>
              <a:t>• Consultar una muestra y revisar propiedades.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Crear el enlace no sustituye la validación de permisos y formato.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rtcut_new.png">
            <a:hlinkClick r:id="rId3"/>
          </p:cNvPr>
          <p:cNvPicPr>
            <a:picLocks noChangeAspect="1"/>
          </p:cNvPicPr>
          <p:nvPr/>
        </p:nvPicPr>
        <p:blipFill>
          <a:blip r:embed="rId2"/>
          <a:stretch>
            <a:fillRect/>
          </a:stretch>
        </p:blipFill>
        <p:spPr>
          <a:xfrm>
            <a:off x="6939269" y="1856231"/>
            <a:ext cx="3988836" cy="3703320"/>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Create a data connection · Access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Crear un OneLake Shortcut</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SHORTCUTS</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Identidad y permisos también viajan en la decisión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El acceso puede utilizar identidad del usuario o una identidad delegada.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En modo pass-through, cada usuario necesita acceso al destino. Con identidad delegada, el Shortcut utiliza una conexión configurada para acceder al origen. La selección modifica cómo se administran permisos y cómo se comportan los consumidores posteriores.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Pass-through: se autoriza con la identidad del usuario.</a:t>
            </a:r>
          </a:p>
          <a:p>
            <a:pPr>
              <a:spcAft>
                <a:spcPts val="800"/>
              </a:spcAft>
            </a:pPr>
            <a:r>
              <a:rPr sz="1320" b="0">
                <a:solidFill>
                  <a:srgbClr val="232B38"/>
                </a:solidFill>
                <a:latin typeface="Aptos"/>
              </a:rPr>
              <a:t>• Delegated identity: se utiliza la identidad configurada en la conexión.</a:t>
            </a:r>
          </a:p>
          <a:p>
            <a:pPr>
              <a:spcAft>
                <a:spcPts val="800"/>
              </a:spcAft>
            </a:pPr>
            <a:r>
              <a:rPr sz="1320" b="0">
                <a:solidFill>
                  <a:srgbClr val="232B38"/>
                </a:solidFill>
                <a:latin typeface="Aptos"/>
              </a:rPr>
              <a:t>• El consumidor necesita permisos efectivos sobre la ruta accesible.</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Un Shortcut técnicamente correcto puede fallar si el modelo de identidad no está resuelto.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31_d9b52075.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Create connections · Access controls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Crear un OneLake Shortcut</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MIRRORING</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Replicación continua hacia OneLake</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Mirroring incorpora datos operacionales con baja latencia y configuración simplificada.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Mirroring mantiene una réplica analítica de fuentes compatibles dentro de OneLake. Después de la carga inicial, los cambios del origen se sincronizan continuamente y quedan disponibles para consultas y consumo sin construir un pipeline ETL tradicional.</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Adecuado para bases operacionales compatibles.</a:t>
            </a:r>
          </a:p>
          <a:p>
            <a:pPr>
              <a:spcAft>
                <a:spcPts val="800"/>
              </a:spcAft>
            </a:pPr>
            <a:r>
              <a:rPr sz="1320" b="0">
                <a:solidFill>
                  <a:srgbClr val="232B38"/>
                </a:solidFill>
                <a:latin typeface="Aptos"/>
              </a:rPr>
              <a:t>• Sincronización cercana al tiempo real.</a:t>
            </a:r>
          </a:p>
          <a:p>
            <a:pPr>
              <a:spcAft>
                <a:spcPts val="800"/>
              </a:spcAft>
            </a:pPr>
            <a:r>
              <a:rPr sz="1320" b="0">
                <a:solidFill>
                  <a:srgbClr val="232B38"/>
                </a:solidFill>
                <a:latin typeface="Aptos"/>
              </a:rPr>
              <a:t>• Destino analítico administrado y de solo lectura.</a:t>
            </a:r>
          </a:p>
          <a:p>
            <a:pPr>
              <a:spcAft>
                <a:spcPts val="800"/>
              </a:spcAft>
            </a:pPr>
            <a:r>
              <a:rPr sz="1320" b="0">
                <a:solidFill>
                  <a:srgbClr val="232B38"/>
                </a:solidFill>
                <a:latin typeface="Aptos"/>
              </a:rPr>
              <a:t>• No aplica transformaciones de negocio durante la réplica.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Mirroring prioriza frescura y sencillez; no reemplaza una preparación compleja.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32_17896354.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Mirroring en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COMPARACIÓN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Mirroring no es un Pipeline</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Ambos mueven datos, pero ofrecen niveles de control diferentes.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Mirroring replica una base compatible con comportamiento predefinido y poca configuración. Copy Job y Copy Activity permiten controlar selección, programación y movimiento; un Pipeline además coordina dependencias, scripts, validaciones y otros pasos.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Mirroring: réplica continua y sin transformación.</a:t>
            </a:r>
          </a:p>
          <a:p>
            <a:pPr>
              <a:spcAft>
                <a:spcPts val="800"/>
              </a:spcAft>
            </a:pPr>
            <a:r>
              <a:rPr sz="1320" b="0">
                <a:solidFill>
                  <a:srgbClr val="232B38"/>
                </a:solidFill>
                <a:latin typeface="Aptos"/>
              </a:rPr>
              <a:t>• Copy Job: copia simplificada, incremental o CDC según fuente.</a:t>
            </a:r>
          </a:p>
          <a:p>
            <a:pPr>
              <a:spcAft>
                <a:spcPts val="800"/>
              </a:spcAft>
            </a:pPr>
            <a:r>
              <a:rPr sz="1320" b="0">
                <a:solidFill>
                  <a:srgbClr val="232B38"/>
                </a:solidFill>
                <a:latin typeface="Aptos"/>
              </a:rPr>
              <a:t>• Copy Activity: movimiento configurable dentro de una orquestación.</a:t>
            </a:r>
          </a:p>
          <a:p>
            <a:pPr>
              <a:spcAft>
                <a:spcPts val="800"/>
              </a:spcAft>
            </a:pPr>
            <a:r>
              <a:rPr sz="1320" b="0">
                <a:solidFill>
                  <a:srgbClr val="232B38"/>
                </a:solidFill>
                <a:latin typeface="Aptos"/>
              </a:rPr>
              <a:t>• Shortcut: acceso sin copia inicial.</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latencia no es el único criterio: también importan control y transformación.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33_e91f5838.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 Choose tools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de movimiento de datos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COMPARACIÓN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Matriz de decisión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Comparar copia, dependencia, frescura, transformación y compatibilidad.</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decisión debe considerar más de una característica. Shortcut minimiza copias, Mirroring mantiene una réplica continua y la carga física proporciona control del proceso. Ninguna opción es universalmente superior.</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Confirma si la fuente está soportada.</a:t>
            </a:r>
          </a:p>
          <a:p>
            <a:pPr>
              <a:spcAft>
                <a:spcPts val="800"/>
              </a:spcAft>
            </a:pPr>
            <a:r>
              <a:rPr sz="1320" b="0">
                <a:solidFill>
                  <a:srgbClr val="232B38"/>
                </a:solidFill>
                <a:latin typeface="Aptos"/>
              </a:rPr>
              <a:t>• Define el nivel de frescura requerido.</a:t>
            </a:r>
          </a:p>
          <a:p>
            <a:pPr>
              <a:spcAft>
                <a:spcPts val="800"/>
              </a:spcAft>
            </a:pPr>
            <a:r>
              <a:rPr sz="1320" b="0">
                <a:solidFill>
                  <a:srgbClr val="232B38"/>
                </a:solidFill>
                <a:latin typeface="Aptos"/>
              </a:rPr>
              <a:t>• Determina si necesitas transformar durante el flujo.</a:t>
            </a:r>
          </a:p>
          <a:p>
            <a:pPr>
              <a:spcAft>
                <a:spcPts val="800"/>
              </a:spcAft>
            </a:pPr>
            <a:r>
              <a:rPr sz="1320" b="0">
                <a:solidFill>
                  <a:srgbClr val="232B38"/>
                </a:solidFill>
                <a:latin typeface="Aptos"/>
              </a:rPr>
              <a:t>• Evalúa permisos, coste y dependencia.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respuesta correcta cambia cuando cambia un requisito.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34_85d08efc.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Opciones de almacenamiento</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DECISIÓN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Árbol de decisión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Comenzar por el estado actual del dato y la necesidad de negocio.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Si el dato ya está en un almacenamiento accesible y no debe duplicarse, Shortcut es el primer candidato. Si procede de una base operacional compatible y se necesita sincronización continua, Mirroring encaja. Si requiere control, histórico o transformación, conviene copiar.</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¿Ya existe en un almacenamiento accesible? → considerar Shortcut.</a:t>
            </a:r>
          </a:p>
          <a:p>
            <a:pPr>
              <a:spcAft>
                <a:spcPts val="800"/>
              </a:spcAft>
            </a:pPr>
            <a:r>
              <a:rPr sz="1320" b="0">
                <a:solidFill>
                  <a:srgbClr val="232B38"/>
                </a:solidFill>
                <a:latin typeface="Aptos"/>
              </a:rPr>
              <a:t>• ¿Es una base compatible con cambios continuos? → considerar Mirroring.</a:t>
            </a:r>
          </a:p>
          <a:p>
            <a:pPr>
              <a:spcAft>
                <a:spcPts val="800"/>
              </a:spcAft>
            </a:pPr>
            <a:r>
              <a:rPr sz="1320" b="0">
                <a:solidFill>
                  <a:srgbClr val="232B38"/>
                </a:solidFill>
                <a:latin typeface="Aptos"/>
              </a:rPr>
              <a:t>• ¿Necesita transformación o snapshot propio? → considerar carga física.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Después de elegir, documenta una limitación y una prueba de validación.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35_e99bb719.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Choose between data access strategies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de movimiento de datos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DECISIÓN RÁPIDA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ADLS gobernado y sin duplicación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Selecciona el patrón más adecuado.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equipo de producto publica tablas Delta en ADLS Gen2. El propietario exige mantener una única versión, los analistas necesitan consultar los datos desde Fabric y no se requiere transformación durante el acceso.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Vota A, B o C.</a:t>
            </a:r>
          </a:p>
          <a:p>
            <a:pPr>
              <a:spcAft>
                <a:spcPts val="800"/>
              </a:spcAft>
            </a:pPr>
            <a:r>
              <a:rPr sz="1320" b="0">
                <a:solidFill>
                  <a:srgbClr val="232B38"/>
                </a:solidFill>
                <a:latin typeface="Aptos"/>
              </a:rPr>
              <a:t>• Justifica la respuesta usando copia y dependencia.</a:t>
            </a:r>
          </a:p>
        </p:txBody>
      </p:sp>
      <p:sp>
        <p:nvSpPr>
          <p:cNvPr id="8" name="Rounded Rectangle 7"/>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36_d9a6703b.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0" name="TextBox 9">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1" name="Rectangle 10"/>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Access data as needed</a:t>
            </a:r>
          </a:p>
        </p:txBody>
      </p:sp>
      <p:sp>
        <p:nvSpPr>
          <p:cNvPr id="13" name="TextBox 12">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Shortcuts</a:t>
            </a:r>
          </a:p>
        </p:txBody>
      </p:sp>
      <p:sp>
        <p:nvSpPr>
          <p:cNvPr id="14" name="TextBox 13"/>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RESPUESTA RAZONADA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Shortcut conserva la única versión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respuesta correcta es B.</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Los datos ya existen en un almacenamiento soportado y deben permanecer allí. El Shortcut los incorpora al espacio lógico de OneLake sin crear otra copia inicial. Mirroring está orientado a bases operacionales compatibles, no a una carpeta de archivos.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Verificar conexión y permisos sobre ADLS Gen2.</a:t>
            </a:r>
          </a:p>
          <a:p>
            <a:pPr>
              <a:spcAft>
                <a:spcPts val="800"/>
              </a:spcAft>
            </a:pPr>
            <a:r>
              <a:rPr sz="1320" b="0">
                <a:solidFill>
                  <a:srgbClr val="232B38"/>
                </a:solidFill>
                <a:latin typeface="Aptos"/>
              </a:rPr>
              <a:t>• Crear el Shortcut en Tables si el destino es Delta compatible.</a:t>
            </a:r>
          </a:p>
          <a:p>
            <a:pPr>
              <a:spcAft>
                <a:spcPts val="800"/>
              </a:spcAft>
            </a:pPr>
            <a:r>
              <a:rPr sz="1320" b="0">
                <a:solidFill>
                  <a:srgbClr val="232B38"/>
                </a:solidFill>
                <a:latin typeface="Aptos"/>
              </a:rPr>
              <a:t>• Consultar una muestra desde Spark o SQL.</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validación confirma que el patrón funciona desde el motor que lo consumirá.</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rtcut_structure.png">
            <a:hlinkClick r:id="rId3"/>
          </p:cNvPr>
          <p:cNvPicPr>
            <a:picLocks noChangeAspect="1"/>
          </p:cNvPicPr>
          <p:nvPr/>
        </p:nvPicPr>
        <p:blipFill>
          <a:blip r:embed="rId2"/>
          <a:stretch>
            <a:fillRect/>
          </a:stretch>
        </p:blipFill>
        <p:spPr>
          <a:xfrm>
            <a:off x="6711696" y="2160130"/>
            <a:ext cx="4443984" cy="3095523"/>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Shortcuts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4846320" cy="274320"/>
          </a:xfrm>
          <a:prstGeom prst="rect">
            <a:avLst/>
          </a:prstGeom>
          <a:noFill/>
        </p:spPr>
        <p:txBody>
          <a:bodyPr wrap="square" lIns="0" rIns="0" tIns="0" bIns="0">
            <a:normAutofit/>
          </a:bodyPr>
          <a:lstStyle/>
          <a:p>
            <a:r>
              <a:rPr sz="1100" b="1">
                <a:solidFill>
                  <a:srgbClr val="82E0E5"/>
                </a:solidFill>
                <a:latin typeface="Aptos"/>
              </a:rPr>
              <a:t>60-75 MIN</a:t>
            </a:r>
          </a:p>
        </p:txBody>
      </p:sp>
      <p:sp>
        <p:nvSpPr>
          <p:cNvPr id="4" name="TextBox 3"/>
          <p:cNvSpPr txBox="1"/>
          <p:nvPr/>
        </p:nvSpPr>
        <p:spPr>
          <a:xfrm>
            <a:off x="685800" y="1225296"/>
            <a:ext cx="5166360" cy="1005840"/>
          </a:xfrm>
          <a:prstGeom prst="rect">
            <a:avLst/>
          </a:prstGeom>
          <a:noFill/>
        </p:spPr>
        <p:txBody>
          <a:bodyPr wrap="square" lIns="0" rIns="0" tIns="0" bIns="0">
            <a:normAutofit/>
          </a:bodyPr>
          <a:lstStyle/>
          <a:p>
            <a:r>
              <a:rPr sz="3100" b="1">
                <a:solidFill>
                  <a:srgbClr val="FFFFFF"/>
                </a:solidFill>
                <a:latin typeface="Aptos"/>
              </a:rPr>
              <a:t>4. Demostración guiada</a:t>
            </a:r>
          </a:p>
        </p:txBody>
      </p:sp>
      <p:sp>
        <p:nvSpPr>
          <p:cNvPr id="5" name="TextBox 4"/>
          <p:cNvSpPr txBox="1"/>
          <p:nvPr/>
        </p:nvSpPr>
        <p:spPr>
          <a:xfrm>
            <a:off x="704088" y="2514600"/>
            <a:ext cx="5029200" cy="1024128"/>
          </a:xfrm>
          <a:prstGeom prst="rect">
            <a:avLst/>
          </a:prstGeom>
          <a:noFill/>
        </p:spPr>
        <p:txBody>
          <a:bodyPr wrap="square" lIns="0" rIns="0" tIns="0" bIns="0">
            <a:normAutofit/>
          </a:bodyPr>
          <a:lstStyle/>
          <a:p>
            <a:r>
              <a:rPr sz="1700" b="0">
                <a:solidFill>
                  <a:srgbClr val="DAE5F0"/>
                </a:solidFill>
                <a:latin typeface="Aptos"/>
              </a:rPr>
              <a:t>Crear el Lakehouse, conservar el CSV, convertirlo a Delta y validarlo mediante SQL.</a:t>
            </a:r>
          </a:p>
        </p:txBody>
      </p:sp>
      <p:sp>
        <p:nvSpPr>
          <p:cNvPr id="6" name="TextBox 5">
            <a:hlinkClick r:id="rId2"/>
          </p:cNvPr>
          <p:cNvSpPr txBox="1"/>
          <p:nvPr/>
        </p:nvSpPr>
        <p:spPr>
          <a:xfrm>
            <a:off x="704088" y="5340096"/>
            <a:ext cx="4434840" cy="219456"/>
          </a:xfrm>
          <a:prstGeom prst="rect">
            <a:avLst/>
          </a:prstGeom>
          <a:noFill/>
        </p:spPr>
        <p:txBody>
          <a:bodyPr wrap="square" lIns="0" rIns="0" tIns="0" bIns="0">
            <a:normAutofit/>
          </a:bodyPr>
          <a:lstStyle/>
          <a:p>
            <a:r>
              <a:rPr sz="1000" b="1">
                <a:solidFill>
                  <a:srgbClr val="FFFFFF"/>
                </a:solidFill>
                <a:latin typeface="Aptos"/>
                <a:hlinkClick r:id="rId2"/>
              </a:rPr>
              <a:t>Microsoft Learn</a:t>
            </a:r>
          </a:p>
        </p:txBody>
      </p:sp>
      <p:sp>
        <p:nvSpPr>
          <p:cNvPr id="7" name="Rounded Rectangle 6"/>
          <p:cNvSpPr/>
          <p:nvPr/>
        </p:nvSpPr>
        <p:spPr>
          <a:xfrm>
            <a:off x="6053328" y="685800"/>
            <a:ext cx="5422392" cy="5248656"/>
          </a:xfrm>
          <a:prstGeom prst="roundRect">
            <a:avLst/>
          </a:prstGeom>
          <a:solidFill>
            <a:srgbClr val="FFFFFF"/>
          </a:solidFill>
          <a:ln>
            <a:solidFill>
              <a:srgbClr val="597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38_75c779eb.png">
            <a:hlinkClick r:id="rId2"/>
          </p:cNvPr>
          <p:cNvPicPr>
            <a:picLocks noChangeAspect="1"/>
          </p:cNvPicPr>
          <p:nvPr/>
        </p:nvPicPr>
        <p:blipFill>
          <a:blip r:embed="rId3"/>
          <a:stretch>
            <a:fillRect/>
          </a:stretch>
        </p:blipFill>
        <p:spPr>
          <a:xfrm>
            <a:off x="6236208" y="1666493"/>
            <a:ext cx="5056632" cy="3250692"/>
          </a:xfrm>
          <a:prstGeom prst="rect">
            <a:avLst/>
          </a:prstGeom>
        </p:spPr>
      </p:pic>
      <p:sp>
        <p:nvSpPr>
          <p:cNvPr id="9" name="Rectangle 8"/>
          <p:cNvSpPr/>
          <p:nvPr/>
        </p:nvSpPr>
        <p:spPr>
          <a:xfrm>
            <a:off x="0" y="6108192"/>
            <a:ext cx="12191695" cy="74980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45936"/>
            <a:ext cx="9692640" cy="201168"/>
          </a:xfrm>
          <a:prstGeom prst="rect">
            <a:avLst/>
          </a:prstGeom>
          <a:noFill/>
        </p:spPr>
        <p:txBody>
          <a:bodyPr wrap="square" lIns="0" rIns="0" tIns="0" bIns="0">
            <a:normAutofit/>
          </a:bodyPr>
          <a:lstStyle/>
          <a:p>
            <a:r>
              <a:rPr sz="900" b="0">
                <a:solidFill>
                  <a:srgbClr val="FFFFFF"/>
                </a:solidFill>
                <a:latin typeface="Aptos"/>
              </a:rPr>
              <a:t>Data Days Study Group DP-600 · Sesión 3</a:t>
            </a:r>
          </a:p>
        </p:txBody>
      </p:sp>
      <p:sp>
        <p:nvSpPr>
          <p:cNvPr id="11" name="TextBox 10"/>
          <p:cNvSpPr txBox="1"/>
          <p:nvPr/>
        </p:nvSpPr>
        <p:spPr>
          <a:xfrm>
            <a:off x="11045952" y="6327648"/>
            <a:ext cx="365760" cy="201168"/>
          </a:xfrm>
          <a:prstGeom prst="rect">
            <a:avLst/>
          </a:prstGeom>
          <a:noFill/>
        </p:spPr>
        <p:txBody>
          <a:bodyPr wrap="square" lIns="0" rIns="0" tIns="0" bIns="0">
            <a:normAutofit/>
          </a:bodyPr>
          <a:lstStyle/>
          <a:p>
            <a:pPr algn="r"/>
            <a:r>
              <a:rPr sz="900" b="1">
                <a:solidFill>
                  <a:srgbClr val="FFFFFF"/>
                </a:solidFill>
                <a:latin typeface="Apto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DEMOSTRACIÓN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1. Crear LH_Ventas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Un Lakehouse con esquemas habilitados para organizar las tablas.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Desde el workspace se crea un nuevo elemento Lakehouse llamado LH_Ventas. Fabric aprovisiona la experiencia de archivos, tablas, un SQL analytics endpoint y las capacidades necesarias para que Spark y SQL trabajen sobre el mismo almacenamiento Delta.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Workspace → New item → Lakehouse.</a:t>
            </a:r>
          </a:p>
          <a:p>
            <a:pPr>
              <a:spcAft>
                <a:spcPts val="800"/>
              </a:spcAft>
            </a:pPr>
            <a:r>
              <a:rPr sz="1320" b="0">
                <a:solidFill>
                  <a:srgbClr val="232B38"/>
                </a:solidFill>
                <a:latin typeface="Aptos"/>
              </a:rPr>
              <a:t>• Nombre: LH_Ventas.</a:t>
            </a:r>
          </a:p>
          <a:p>
            <a:pPr>
              <a:spcAft>
                <a:spcPts val="800"/>
              </a:spcAft>
            </a:pPr>
            <a:r>
              <a:rPr sz="1320" b="0">
                <a:solidFill>
                  <a:srgbClr val="232B38"/>
                </a:solidFill>
                <a:latin typeface="Aptos"/>
              </a:rPr>
              <a:t>• Mantener habilitado Lakehouse schemas.</a:t>
            </a:r>
          </a:p>
          <a:p>
            <a:pPr>
              <a:spcAft>
                <a:spcPts val="800"/>
              </a:spcAft>
            </a:pPr>
            <a:r>
              <a:rPr sz="1320" b="0">
                <a:solidFill>
                  <a:srgbClr val="232B38"/>
                </a:solidFill>
                <a:latin typeface="Aptos"/>
              </a:rPr>
              <a:t>• Confirmar Files, Tables y SQL analytics endpoint.</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Resultado visible: Lakehouse creado y listo para recibir ventas.csv.</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39_cdd12661.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Choose between different data stores</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Crear un Lakehouse</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DEMOSTRACIÓN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2. Cargar ventas.csv en Files</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Conservar el archivo recibido antes de convertirlo en tabla.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Dentro de Files se crea la carpeta raw y se carga ventas.csv desde los datos del caso. El archivo permanece disponible para auditoría o reproceso y todavía no debe confundirse con una tabla analítica registrada.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Files → New subfolder → raw.</a:t>
            </a:r>
          </a:p>
          <a:p>
            <a:pPr>
              <a:spcAft>
                <a:spcPts val="800"/>
              </a:spcAft>
            </a:pPr>
            <a:r>
              <a:rPr sz="1320" b="0">
                <a:solidFill>
                  <a:srgbClr val="232B38"/>
                </a:solidFill>
                <a:latin typeface="Aptos"/>
              </a:rPr>
              <a:t>• Upload → Upload files → ventas.csv.</a:t>
            </a:r>
          </a:p>
          <a:p>
            <a:pPr>
              <a:spcAft>
                <a:spcPts val="800"/>
              </a:spcAft>
            </a:pPr>
            <a:r>
              <a:rPr sz="1320" b="0">
                <a:solidFill>
                  <a:srgbClr val="232B38"/>
                </a:solidFill>
                <a:latin typeface="Aptos"/>
              </a:rPr>
              <a:t>• Previsualizar encabezados y registros.</a:t>
            </a:r>
          </a:p>
          <a:p>
            <a:pPr>
              <a:spcAft>
                <a:spcPts val="800"/>
              </a:spcAft>
            </a:pPr>
            <a:r>
              <a:rPr sz="1320" b="0">
                <a:solidFill>
                  <a:srgbClr val="232B38"/>
                </a:solidFill>
                <a:latin typeface="Aptos"/>
              </a:rPr>
              <a:t>• Confirmar ruta Files/raw/ventas.csv.</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Archivo disponible, pero todavía ausente en el SQL analytics endpoint.</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40_2641b681.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Load to Delta Lake tables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DEMOSTRACIÓN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3. Convertir el CSV en tabla Delta</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Load to tables crea dbo.ventas y registra su estructura.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Desde el menú del archivo se selecciona Load to tables y se crea una tabla nueva. Se revisan encabezados, separador y modo de escritura antes de ejecutar. El resultado queda almacenado como Delta y aparece dentro de Tables.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Seleccionar ventas.csv → Load to tables.</a:t>
            </a:r>
          </a:p>
          <a:p>
            <a:pPr>
              <a:spcAft>
                <a:spcPts val="800"/>
              </a:spcAft>
            </a:pPr>
            <a:r>
              <a:rPr sz="1320" b="0">
                <a:solidFill>
                  <a:srgbClr val="232B38"/>
                </a:solidFill>
                <a:latin typeface="Aptos"/>
              </a:rPr>
              <a:t>• New table → dbo.ventas.</a:t>
            </a:r>
          </a:p>
          <a:p>
            <a:pPr>
              <a:spcAft>
                <a:spcPts val="800"/>
              </a:spcAft>
            </a:pPr>
            <a:r>
              <a:rPr sz="1320" b="0">
                <a:solidFill>
                  <a:srgbClr val="232B38"/>
                </a:solidFill>
                <a:latin typeface="Aptos"/>
              </a:rPr>
              <a:t>• Comprobar encabezado y separador.</a:t>
            </a:r>
          </a:p>
          <a:p>
            <a:pPr>
              <a:spcAft>
                <a:spcPts val="800"/>
              </a:spcAft>
            </a:pPr>
            <a:r>
              <a:rPr sz="1320" b="0">
                <a:solidFill>
                  <a:srgbClr val="232B38"/>
                </a:solidFill>
                <a:latin typeface="Aptos"/>
              </a:rPr>
              <a:t>• Ejecutar y revisar filas cargadas.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Resultado visible: dbo.ventas dentro de Tables.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ad_to_tables.png">
            <a:hlinkClick r:id="rId3"/>
          </p:cNvPr>
          <p:cNvPicPr>
            <a:picLocks noChangeAspect="1"/>
          </p:cNvPicPr>
          <p:nvPr/>
        </p:nvPicPr>
        <p:blipFill>
          <a:blip r:embed="rId2"/>
          <a:stretch>
            <a:fillRect/>
          </a:stretch>
        </p:blipFill>
        <p:spPr>
          <a:xfrm>
            <a:off x="6711696" y="2667892"/>
            <a:ext cx="4443984" cy="2079999"/>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and transform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Load to Delta Lake tables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DEMOSTRACIÓN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4. Validar desde el SQL endpoint</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tabla debe aparecer y responder a una consulta T-SQL.</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Se cambia al SQL analytics endpoint del Lakehouse y se confirma la aparición de dbo.ventas. La consulta revisa registros, tipos y un cálculo agregado básico. Esta validación demuestra que el dato dejó de ser solo un archivo y ya funciona como tabla analítica.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Abrir SQL analytics endpoint.</a:t>
            </a:r>
          </a:p>
          <a:p>
            <a:pPr>
              <a:spcAft>
                <a:spcPts val="800"/>
              </a:spcAft>
            </a:pPr>
            <a:r>
              <a:rPr sz="1320" b="0">
                <a:solidFill>
                  <a:srgbClr val="232B38"/>
                </a:solidFill>
                <a:latin typeface="Aptos"/>
              </a:rPr>
              <a:t>• Confirmar dbo.ventas en el explorador.</a:t>
            </a:r>
          </a:p>
          <a:p>
            <a:pPr>
              <a:spcAft>
                <a:spcPts val="800"/>
              </a:spcAft>
            </a:pPr>
            <a:r>
              <a:rPr sz="1320" b="0">
                <a:solidFill>
                  <a:srgbClr val="232B38"/>
                </a:solidFill>
                <a:latin typeface="Aptos"/>
              </a:rPr>
              <a:t>• Consultar TOP, COUNT y SUM.</a:t>
            </a:r>
          </a:p>
          <a:p>
            <a:pPr>
              <a:spcAft>
                <a:spcPts val="800"/>
              </a:spcAft>
            </a:pPr>
            <a:r>
              <a:rPr sz="1320" b="0">
                <a:solidFill>
                  <a:srgbClr val="232B38"/>
                </a:solidFill>
                <a:latin typeface="Aptos"/>
              </a:rPr>
              <a:t>• Comparar recuento con el archivo de origen.</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Una carga termina cuando los datos se validan, no cuando desaparece el indicador de progreso.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42_fd65e892.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Select and aggregate data by using SQL</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SQL analytics endpoint</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DEMOSTRACIÓN OPCIONAL</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5. Crear un Shortcut interno</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Referenciar una tabla existente en otro Lakehouse sin duplicarla.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Si el entorno dispone de otro Lakehouse, puede crearse un Shortcut interno desde Tables. Se selecciona Microsoft OneLake, el workspace, el elemento y la tabla de destino. Después se valida el icono de Shortcut y una consulta de lectura.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Tables → New shortcut.</a:t>
            </a:r>
          </a:p>
          <a:p>
            <a:pPr>
              <a:spcAft>
                <a:spcPts val="800"/>
              </a:spcAft>
            </a:pPr>
            <a:r>
              <a:rPr sz="1320" b="0">
                <a:solidFill>
                  <a:srgbClr val="232B38"/>
                </a:solidFill>
                <a:latin typeface="Aptos"/>
              </a:rPr>
              <a:t>• Internal sources → Microsoft OneLake.</a:t>
            </a:r>
          </a:p>
          <a:p>
            <a:pPr>
              <a:spcAft>
                <a:spcPts val="800"/>
              </a:spcAft>
            </a:pPr>
            <a:r>
              <a:rPr sz="1320" b="0">
                <a:solidFill>
                  <a:srgbClr val="232B38"/>
                </a:solidFill>
                <a:latin typeface="Aptos"/>
              </a:rPr>
              <a:t>• Seleccionar workspace, Lakehouse y tabla.</a:t>
            </a:r>
          </a:p>
          <a:p>
            <a:pPr>
              <a:spcAft>
                <a:spcPts val="800"/>
              </a:spcAft>
            </a:pPr>
            <a:r>
              <a:rPr sz="1320" b="0">
                <a:solidFill>
                  <a:srgbClr val="232B38"/>
                </a:solidFill>
                <a:latin typeface="Aptos"/>
              </a:rPr>
              <a:t>• Crear y consultar una muestra.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La demostración puede omitirse si no existe un segundo elemento preparado.</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rtcut_source.png">
            <a:hlinkClick r:id="rId3"/>
          </p:cNvPr>
          <p:cNvPicPr>
            <a:picLocks noChangeAspect="1"/>
          </p:cNvPicPr>
          <p:nvPr/>
        </p:nvPicPr>
        <p:blipFill>
          <a:blip r:embed="rId2"/>
          <a:stretch>
            <a:fillRect/>
          </a:stretch>
        </p:blipFill>
        <p:spPr>
          <a:xfrm>
            <a:off x="6711696" y="2517734"/>
            <a:ext cx="4443984" cy="2380315"/>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Crear un OneLake Shortcut</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ALCANCE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Qué queda fuera de esta demostración</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sesión construye la base de almacenamiento y acceso, no el flujo completo.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No se desarrollará una transformación avanzada con Notebook, un Dataflow Gen2 completo ni una orquestación de Pipeline. Tampoco se configurará Mirroring real sin una fuente compatible preparada. Esos elementos requieren tiempo, credenciales y objetivos diferentes.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Sesión 4: Warehouse y modelo dimensional.</a:t>
            </a:r>
          </a:p>
          <a:p>
            <a:pPr>
              <a:spcAft>
                <a:spcPts val="800"/>
              </a:spcAft>
            </a:pPr>
            <a:r>
              <a:rPr sz="1320" b="0">
                <a:solidFill>
                  <a:srgbClr val="232B38"/>
                </a:solidFill>
                <a:latin typeface="Aptos"/>
              </a:rPr>
              <a:t>• Sesión 5: Dataflow Gen2, Pipeline, Notebook y preparación.</a:t>
            </a:r>
          </a:p>
          <a:p>
            <a:pPr>
              <a:spcAft>
                <a:spcPts val="800"/>
              </a:spcAft>
            </a:pPr>
            <a:r>
              <a:rPr sz="1320" b="0">
                <a:solidFill>
                  <a:srgbClr val="232B38"/>
                </a:solidFill>
                <a:latin typeface="Aptos"/>
              </a:rPr>
              <a:t>• Mirroring: demostración conceptual salvo que exista una fuente preparada.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Hoy queda lista la estrategia; las siguientes sesiones construyen transformación y serving.</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44_c5d5d5e4.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Learning progression</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oficial DP-600</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4846320" cy="274320"/>
          </a:xfrm>
          <a:prstGeom prst="rect">
            <a:avLst/>
          </a:prstGeom>
          <a:noFill/>
        </p:spPr>
        <p:txBody>
          <a:bodyPr wrap="square" lIns="0" rIns="0" tIns="0" bIns="0">
            <a:normAutofit/>
          </a:bodyPr>
          <a:lstStyle/>
          <a:p>
            <a:r>
              <a:rPr sz="1100" b="1">
                <a:solidFill>
                  <a:srgbClr val="82E0E5"/>
                </a:solidFill>
                <a:latin typeface="Aptos"/>
              </a:rPr>
              <a:t>75-90 MIN</a:t>
            </a:r>
          </a:p>
        </p:txBody>
      </p:sp>
      <p:sp>
        <p:nvSpPr>
          <p:cNvPr id="4" name="TextBox 3"/>
          <p:cNvSpPr txBox="1"/>
          <p:nvPr/>
        </p:nvSpPr>
        <p:spPr>
          <a:xfrm>
            <a:off x="685800" y="1225296"/>
            <a:ext cx="5166360" cy="1005840"/>
          </a:xfrm>
          <a:prstGeom prst="rect">
            <a:avLst/>
          </a:prstGeom>
          <a:noFill/>
        </p:spPr>
        <p:txBody>
          <a:bodyPr wrap="square" lIns="0" rIns="0" tIns="0" bIns="0">
            <a:normAutofit/>
          </a:bodyPr>
          <a:lstStyle/>
          <a:p>
            <a:r>
              <a:rPr sz="3100" b="1">
                <a:solidFill>
                  <a:srgbClr val="FFFFFF"/>
                </a:solidFill>
                <a:latin typeface="Aptos"/>
              </a:rPr>
              <a:t>5. Caso práctico Ventas 360</a:t>
            </a:r>
          </a:p>
        </p:txBody>
      </p:sp>
      <p:sp>
        <p:nvSpPr>
          <p:cNvPr id="5" name="TextBox 4"/>
          <p:cNvSpPr txBox="1"/>
          <p:nvPr/>
        </p:nvSpPr>
        <p:spPr>
          <a:xfrm>
            <a:off x="704088" y="2514600"/>
            <a:ext cx="5029200" cy="1024128"/>
          </a:xfrm>
          <a:prstGeom prst="rect">
            <a:avLst/>
          </a:prstGeom>
          <a:noFill/>
        </p:spPr>
        <p:txBody>
          <a:bodyPr wrap="square" lIns="0" rIns="0" tIns="0" bIns="0">
            <a:normAutofit/>
          </a:bodyPr>
          <a:lstStyle/>
          <a:p>
            <a:r>
              <a:rPr sz="1700" b="0">
                <a:solidFill>
                  <a:srgbClr val="DAE5F0"/>
                </a:solidFill>
                <a:latin typeface="Aptos"/>
              </a:rPr>
              <a:t>Resolver tres fuentes y defender cada decisión con requisitos, riesgos y validaciones.</a:t>
            </a:r>
          </a:p>
        </p:txBody>
      </p:sp>
      <p:sp>
        <p:nvSpPr>
          <p:cNvPr id="6" name="TextBox 5">
            <a:hlinkClick r:id="rId2"/>
          </p:cNvPr>
          <p:cNvSpPr txBox="1"/>
          <p:nvPr/>
        </p:nvSpPr>
        <p:spPr>
          <a:xfrm>
            <a:off x="704088" y="5340096"/>
            <a:ext cx="4434840" cy="219456"/>
          </a:xfrm>
          <a:prstGeom prst="rect">
            <a:avLst/>
          </a:prstGeom>
          <a:noFill/>
        </p:spPr>
        <p:txBody>
          <a:bodyPr wrap="square" lIns="0" rIns="0" tIns="0" bIns="0">
            <a:normAutofit/>
          </a:bodyPr>
          <a:lstStyle/>
          <a:p>
            <a:r>
              <a:rPr sz="1000" b="1">
                <a:solidFill>
                  <a:srgbClr val="FFFFFF"/>
                </a:solidFill>
                <a:latin typeface="Aptos"/>
                <a:hlinkClick r:id="rId2"/>
              </a:rPr>
              <a:t>Microsoft Learn</a:t>
            </a:r>
          </a:p>
        </p:txBody>
      </p:sp>
      <p:sp>
        <p:nvSpPr>
          <p:cNvPr id="7" name="Rounded Rectangle 6"/>
          <p:cNvSpPr/>
          <p:nvPr/>
        </p:nvSpPr>
        <p:spPr>
          <a:xfrm>
            <a:off x="6053328" y="685800"/>
            <a:ext cx="5422392" cy="5248656"/>
          </a:xfrm>
          <a:prstGeom prst="roundRect">
            <a:avLst/>
          </a:prstGeom>
          <a:solidFill>
            <a:srgbClr val="FFFFFF"/>
          </a:solidFill>
          <a:ln>
            <a:solidFill>
              <a:srgbClr val="597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_45_a087e6ff.png">
            <a:hlinkClick r:id="rId2"/>
          </p:cNvPr>
          <p:cNvPicPr>
            <a:picLocks noChangeAspect="1"/>
          </p:cNvPicPr>
          <p:nvPr/>
        </p:nvPicPr>
        <p:blipFill>
          <a:blip r:embed="rId3"/>
          <a:stretch>
            <a:fillRect/>
          </a:stretch>
        </p:blipFill>
        <p:spPr>
          <a:xfrm>
            <a:off x="6236208" y="1666493"/>
            <a:ext cx="5056632" cy="3250692"/>
          </a:xfrm>
          <a:prstGeom prst="rect">
            <a:avLst/>
          </a:prstGeom>
        </p:spPr>
      </p:pic>
      <p:sp>
        <p:nvSpPr>
          <p:cNvPr id="9" name="Rectangle 8"/>
          <p:cNvSpPr/>
          <p:nvPr/>
        </p:nvSpPr>
        <p:spPr>
          <a:xfrm>
            <a:off x="0" y="6108192"/>
            <a:ext cx="12191695" cy="74980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45936"/>
            <a:ext cx="9692640" cy="201168"/>
          </a:xfrm>
          <a:prstGeom prst="rect">
            <a:avLst/>
          </a:prstGeom>
          <a:noFill/>
        </p:spPr>
        <p:txBody>
          <a:bodyPr wrap="square" lIns="0" rIns="0" tIns="0" bIns="0">
            <a:normAutofit/>
          </a:bodyPr>
          <a:lstStyle/>
          <a:p>
            <a:r>
              <a:rPr sz="900" b="0">
                <a:solidFill>
                  <a:srgbClr val="FFFFFF"/>
                </a:solidFill>
                <a:latin typeface="Aptos"/>
              </a:rPr>
              <a:t>Data Days Study Group DP-600 · Sesión 3</a:t>
            </a:r>
          </a:p>
        </p:txBody>
      </p:sp>
      <p:sp>
        <p:nvSpPr>
          <p:cNvPr id="11" name="TextBox 10"/>
          <p:cNvSpPr txBox="1"/>
          <p:nvPr/>
        </p:nvSpPr>
        <p:spPr>
          <a:xfrm>
            <a:off x="11045952" y="6327648"/>
            <a:ext cx="365760" cy="201168"/>
          </a:xfrm>
          <a:prstGeom prst="rect">
            <a:avLst/>
          </a:prstGeom>
          <a:noFill/>
        </p:spPr>
        <p:txBody>
          <a:bodyPr wrap="square" lIns="0" rIns="0" tIns="0" bIns="0">
            <a:normAutofit/>
          </a:bodyPr>
          <a:lstStyle/>
          <a:p>
            <a:pPr algn="r"/>
            <a:r>
              <a:rPr sz="900" b="1">
                <a:solidFill>
                  <a:srgbClr val="FFFFFF"/>
                </a:solidFill>
                <a:latin typeface="Apto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CASO PRÁCTICO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Contexto y reglas de trabajo</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Equipos de 3 o 4 personas con una decisión defendible por fuente.</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Ventas 360 necesita combinar historia comercial, catálogo de productos y pedidos recientes. Cada equipo dispone de ocho minutos para completar la matriz y dos minutos para defender una decisión. No basta con nombrar una herramienta: debe conectarse con un requisito.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Definir método, destino y frecuencia.</a:t>
            </a:r>
          </a:p>
          <a:p>
            <a:pPr>
              <a:spcAft>
                <a:spcPts val="800"/>
              </a:spcAft>
            </a:pPr>
            <a:r>
              <a:rPr sz="1320" b="0">
                <a:solidFill>
                  <a:srgbClr val="232B38"/>
                </a:solidFill>
                <a:latin typeface="Aptos"/>
              </a:rPr>
              <a:t>• Identificar un riesgo técnico.</a:t>
            </a:r>
          </a:p>
          <a:p>
            <a:pPr>
              <a:spcAft>
                <a:spcPts val="800"/>
              </a:spcAft>
            </a:pPr>
            <a:r>
              <a:rPr sz="1320" b="0">
                <a:solidFill>
                  <a:srgbClr val="232B38"/>
                </a:solidFill>
                <a:latin typeface="Aptos"/>
              </a:rPr>
              <a:t>• Proponer una prueba de validación.</a:t>
            </a:r>
          </a:p>
          <a:p>
            <a:pPr>
              <a:spcAft>
                <a:spcPts val="800"/>
              </a:spcAft>
            </a:pPr>
            <a:r>
              <a:rPr sz="1320" b="0">
                <a:solidFill>
                  <a:srgbClr val="232B38"/>
                </a:solidFill>
                <a:latin typeface="Aptos"/>
              </a:rPr>
              <a:t>• Actualizar el diagrama end-to-end.</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Criterio de éxito: otra persona puede comprender y cuestionar la decisión.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46_b6a0a87d.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Scenario-based decision making</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Opciones de almacenamiento</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CASO PRÁCTICO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Fuente 1 · ventas_historicas.csv</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Cinco años de ventas entregados una vez al mes.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archivo debe conservarse exactamente como llega para permitir auditoría y reproceso. Después se necesita una tabla tipada que pueda consultarse desde SQL y utilizarse posteriormente en el modelo analítico.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Volumen moderado y entrega mensual.</a:t>
            </a:r>
          </a:p>
          <a:p>
            <a:pPr>
              <a:spcAft>
                <a:spcPts val="800"/>
              </a:spcAft>
            </a:pPr>
            <a:r>
              <a:rPr sz="1320" b="0">
                <a:solidFill>
                  <a:srgbClr val="232B38"/>
                </a:solidFill>
                <a:latin typeface="Aptos"/>
              </a:rPr>
              <a:t>• Se requiere una copia histórica propia.</a:t>
            </a:r>
          </a:p>
          <a:p>
            <a:pPr>
              <a:spcAft>
                <a:spcPts val="800"/>
              </a:spcAft>
            </a:pPr>
            <a:r>
              <a:rPr sz="1320" b="0">
                <a:solidFill>
                  <a:srgbClr val="232B38"/>
                </a:solidFill>
                <a:latin typeface="Aptos"/>
              </a:rPr>
              <a:t>• Deben validarse fechas, importes y duplicados.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Decide método, destino inicial, destino final, riesgo y validación.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47_d8f82bb9.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and transform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Load to Delta Lake tables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CASO PRÁCTICO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Fuente 2 · productos en ADLS Gen2</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Tablas Delta gobernadas por el equipo maestro de productos.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propietario mantiene las tablas actualizadas diariamente y no permite duplicaciones fuera de su dominio. Ventas 360 necesita consultar la versión vigente desde Fabric y combinarla con sus propias tablas.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El dato ya existe en almacenamiento compatible.</a:t>
            </a:r>
          </a:p>
          <a:p>
            <a:pPr>
              <a:spcAft>
                <a:spcPts val="800"/>
              </a:spcAft>
            </a:pPr>
            <a:r>
              <a:rPr sz="1320" b="0">
                <a:solidFill>
                  <a:srgbClr val="232B38"/>
                </a:solidFill>
                <a:latin typeface="Aptos"/>
              </a:rPr>
              <a:t>• La única versión debe permanecer en ADLS Gen2.</a:t>
            </a:r>
          </a:p>
          <a:p>
            <a:pPr>
              <a:spcAft>
                <a:spcPts val="800"/>
              </a:spcAft>
            </a:pPr>
            <a:r>
              <a:rPr sz="1320" b="0">
                <a:solidFill>
                  <a:srgbClr val="232B38"/>
                </a:solidFill>
                <a:latin typeface="Aptos"/>
              </a:rPr>
              <a:t>• La fuente entrega tablas Delta.</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Decide ubicación del acceso, modelo de permisos, riesgo y validación.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hortcut_connects.png">
            <a:hlinkClick r:id="rId3"/>
          </p:cNvPr>
          <p:cNvPicPr>
            <a:picLocks noChangeAspect="1"/>
          </p:cNvPicPr>
          <p:nvPr/>
        </p:nvPicPr>
        <p:blipFill>
          <a:blip r:embed="rId2"/>
          <a:stretch>
            <a:fillRect/>
          </a:stretch>
        </p:blipFill>
        <p:spPr>
          <a:xfrm>
            <a:off x="6711696" y="2785903"/>
            <a:ext cx="4443984" cy="184397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Imagen: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OneLake Shortcuts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CASO PRÁCTICO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Fuente 3 · pedidos en Azure SQL</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Pedidos operacionales que cambian cada minuto.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reporte necesita una latencia baja y la fuente se encuentra entre las bases compatibles con Mirroring. No se requiere aplicar reglas de negocio durante la réplica; la preparación se realizará posteriormente dentro de Fabric.</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Cambios continuos durante el horario comercial.</a:t>
            </a:r>
          </a:p>
          <a:p>
            <a:pPr>
              <a:spcAft>
                <a:spcPts val="800"/>
              </a:spcAft>
            </a:pPr>
            <a:r>
              <a:rPr sz="1320" b="0">
                <a:solidFill>
                  <a:srgbClr val="232B38"/>
                </a:solidFill>
                <a:latin typeface="Aptos"/>
              </a:rPr>
              <a:t>• Se necesita una réplica analítica actualizada.</a:t>
            </a:r>
          </a:p>
          <a:p>
            <a:pPr>
              <a:spcAft>
                <a:spcPts val="800"/>
              </a:spcAft>
            </a:pPr>
            <a:r>
              <a:rPr sz="1320" b="0">
                <a:solidFill>
                  <a:srgbClr val="232B38"/>
                </a:solidFill>
                <a:latin typeface="Aptos"/>
              </a:rPr>
              <a:t>• Las consultas no deben afectar el sistema operacional.</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Decide patrón, expectativa de latencia, riesgo y monitorización.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49_c05a8339.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Mirroring en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CASO PRÁCTICO</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Matriz para completar</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Cada fila debe contener una decisión y una comprobación concreta.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matriz transforma una conversación general en una arquitectura revisable. El riesgo debe ser específico y la validación debe poder ejecutarse. Expresiones como «puede fallar» o «comprobar que funciona» no son suficientes.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Método: carga física, Shortcut o Mirroring.</a:t>
            </a:r>
          </a:p>
          <a:p>
            <a:pPr>
              <a:spcAft>
                <a:spcPts val="800"/>
              </a:spcAft>
            </a:pPr>
            <a:r>
              <a:rPr sz="1320" b="0">
                <a:solidFill>
                  <a:srgbClr val="232B38"/>
                </a:solidFill>
                <a:latin typeface="Aptos"/>
              </a:rPr>
              <a:t>• Destino: Files, Tables o elemento replicado.</a:t>
            </a:r>
          </a:p>
          <a:p>
            <a:pPr>
              <a:spcAft>
                <a:spcPts val="800"/>
              </a:spcAft>
            </a:pPr>
            <a:r>
              <a:rPr sz="1320" b="0">
                <a:solidFill>
                  <a:srgbClr val="232B38"/>
                </a:solidFill>
                <a:latin typeface="Aptos"/>
              </a:rPr>
              <a:t>• Riesgo: permisos, esquema, duplicados, latencia o dependencia.</a:t>
            </a:r>
          </a:p>
          <a:p>
            <a:pPr>
              <a:spcAft>
                <a:spcPts val="800"/>
              </a:spcAft>
            </a:pPr>
            <a:r>
              <a:rPr sz="1320" b="0">
                <a:solidFill>
                  <a:srgbClr val="232B38"/>
                </a:solidFill>
                <a:latin typeface="Aptos"/>
              </a:rPr>
              <a:t>• Validación: recuento, consulta, frescura o acceso.</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Tiempo de trabajo: cinco minutos.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0_da53fccd.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Choose an access strategy</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de movimiento de datos</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SOLUCIÓN RAZONADA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Una respuesta defendible</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solución cambia si cambian los requisitos; esta responde al escenario presentado.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CSV se copia porque debe conservarse y transformarse. Productos se referencia porque ya existe gobernado y no debe duplicarse. Pedidos se replica porque necesita sincronización continua desde una base compatible.</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CSV → carga física → Files/raw → tabla Delta dbo.ventas.</a:t>
            </a:r>
          </a:p>
          <a:p>
            <a:pPr>
              <a:spcAft>
                <a:spcPts val="800"/>
              </a:spcAft>
            </a:pPr>
            <a:r>
              <a:rPr sz="1320" b="0">
                <a:solidFill>
                  <a:srgbClr val="232B38"/>
                </a:solidFill>
                <a:latin typeface="Aptos"/>
              </a:rPr>
              <a:t>• ADLS Delta → Shortcut en Tables → consumo sin copia inicial.</a:t>
            </a:r>
          </a:p>
          <a:p>
            <a:pPr>
              <a:spcAft>
                <a:spcPts val="800"/>
              </a:spcAft>
            </a:pPr>
            <a:r>
              <a:rPr sz="1320" b="0">
                <a:solidFill>
                  <a:srgbClr val="232B38"/>
                </a:solidFill>
                <a:latin typeface="Aptos"/>
              </a:rPr>
              <a:t>• Azure SQL → Mirroring → réplica analítica en OneLake.</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Cada selección está vinculada con conservación, no duplicación o frescura.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1_a74b28d4.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Opciones de almacenamiento</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VALIDACIÓN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Riesgos y pruebas por fuente</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Una arquitectura completa anticipa cómo detectar una decisión incorrecta.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El CSV puede contener tipos erróneos o duplicados; el Shortcut puede fallar por permisos o cambios de ruta; Mirroring puede sufrir retrasos o incompatibilidades. Cada riesgo necesita una evidencia observable y una respuesta operativa.</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CSV: comparar recuento, tipos, nulos y total.</a:t>
            </a:r>
          </a:p>
          <a:p>
            <a:pPr>
              <a:spcAft>
                <a:spcPts val="800"/>
              </a:spcAft>
            </a:pPr>
            <a:r>
              <a:rPr sz="1320" b="0">
                <a:solidFill>
                  <a:srgbClr val="232B38"/>
                </a:solidFill>
                <a:latin typeface="Aptos"/>
              </a:rPr>
              <a:t>• Shortcut: probar acceso con identidad real y consultar una muestra.</a:t>
            </a:r>
          </a:p>
          <a:p>
            <a:pPr>
              <a:spcAft>
                <a:spcPts val="800"/>
              </a:spcAft>
            </a:pPr>
            <a:r>
              <a:rPr sz="1320" b="0">
                <a:solidFill>
                  <a:srgbClr val="232B38"/>
                </a:solidFill>
                <a:latin typeface="Aptos"/>
              </a:rPr>
              <a:t>• Mirroring: revisar estado, última sincronización y diferencia de filas.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Validar estructura, contenido, acceso y frescura.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2_3f2dbcbc.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and validate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Opciones de almacenamiento</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ARQUITECTURA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Diseño resultante de Ventas 360</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Las tres estrategias convergen en una solución analítica común.</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arquitectura combina copia, acceso sin copia y réplica continua sin obligar a utilizar un único patrón. OneLake proporciona el espacio común; las tablas Delta quedan disponibles para preparación posterior, modelo semántico y Power BI.</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Cada fuente conserva su patrón apropiado.</a:t>
            </a:r>
          </a:p>
          <a:p>
            <a:pPr>
              <a:spcAft>
                <a:spcPts val="800"/>
              </a:spcAft>
            </a:pPr>
            <a:r>
              <a:rPr sz="1320" b="0">
                <a:solidFill>
                  <a:srgbClr val="232B38"/>
                </a:solidFill>
                <a:latin typeface="Aptos"/>
              </a:rPr>
              <a:t>• Tables reúne datos estructurados para consumo.</a:t>
            </a:r>
          </a:p>
          <a:p>
            <a:pPr>
              <a:spcAft>
                <a:spcPts val="800"/>
              </a:spcAft>
            </a:pPr>
            <a:r>
              <a:rPr sz="1320" b="0">
                <a:solidFill>
                  <a:srgbClr val="232B38"/>
                </a:solidFill>
                <a:latin typeface="Aptos"/>
              </a:rPr>
              <a:t>• La siguiente fase aplicará transformación y modelo dimensional.</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Una plataforma unificada no significa una única forma de incorporar datos.</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3_467132a9.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End-to-end analytical solution</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Ciclo de datos en Fabric</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PREGUNTA DP-600</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Escenario integrador</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Selecciona la combinación correcta.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Una organización dispone de tablas Delta en ADLS Gen2 y de una base Azure SQL que cambia constantemente. Debe evitar copiar las tablas de ADLS y necesita analizar los cambios de SQL con baja latencia dentro de Fabric.</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Identifica primero el requisito de cada fuente.</a:t>
            </a:r>
          </a:p>
          <a:p>
            <a:pPr>
              <a:spcAft>
                <a:spcPts val="800"/>
              </a:spcAft>
            </a:pPr>
            <a:r>
              <a:rPr sz="1320" b="0">
                <a:solidFill>
                  <a:srgbClr val="232B38"/>
                </a:solidFill>
                <a:latin typeface="Aptos"/>
              </a:rPr>
              <a:t>• Elige una opción para ADLS y otra para Azure SQL.</a:t>
            </a:r>
          </a:p>
        </p:txBody>
      </p:sp>
      <p:sp>
        <p:nvSpPr>
          <p:cNvPr id="8" name="Rounded Rectangle 7"/>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54_cd6216b3.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0" name="TextBox 9">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1" name="Rectangle 10"/>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as needed</a:t>
            </a:r>
          </a:p>
        </p:txBody>
      </p:sp>
      <p:sp>
        <p:nvSpPr>
          <p:cNvPr id="13" name="TextBox 12">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de movimiento de datos</a:t>
            </a:r>
          </a:p>
        </p:txBody>
      </p:sp>
      <p:sp>
        <p:nvSpPr>
          <p:cNvPr id="14" name="TextBox 13"/>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RESPUESTA DP-600</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Shortcut más Mirroring</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combinación correcta es A.</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Shortcut permite consultar las tablas Delta de ADLS sin crear una copia inicial. Mirroring mantiene una réplica analítica de Azure SQL con baja latencia. La carga diaria no satisface el requisito de frescura y duplicaría innecesariamente el contenido de ADLS.</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ADLS: datos existentes y gobernados → Shortcut.</a:t>
            </a:r>
          </a:p>
          <a:p>
            <a:pPr>
              <a:spcAft>
                <a:spcPts val="800"/>
              </a:spcAft>
            </a:pPr>
            <a:r>
              <a:rPr sz="1320" b="0">
                <a:solidFill>
                  <a:srgbClr val="232B38"/>
                </a:solidFill>
                <a:latin typeface="Aptos"/>
              </a:rPr>
              <a:t>• Azure SQL: base operacional cambiante → Mirroring.</a:t>
            </a:r>
          </a:p>
          <a:p>
            <a:pPr>
              <a:spcAft>
                <a:spcPts val="800"/>
              </a:spcAft>
            </a:pPr>
            <a:r>
              <a:rPr sz="1320" b="0">
                <a:solidFill>
                  <a:srgbClr val="232B38"/>
                </a:solidFill>
                <a:latin typeface="Aptos"/>
              </a:rPr>
              <a:t>• Validar permisos del Shortcut y estado de replicación.</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En escenarios de examen, cada palabra del requisito puede cambiar la respuesta.</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5_528f18d7.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Ingest or access data as needed</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Opciones de almacenamiento</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CIERRE</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Cinco ideas que deben permanecer</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La sesión se resume en ubicación, formato y estrategia de acceso.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OneLake proporciona la base lógica común y Delta aporta una representación tabular confiable. Files y Tables responden a estados distintos del dato. Carga física, Shortcut y Mirroring resuelven necesidades diferentes y siempre deben validarse.</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OneLake unifica almacenamiento y acceso.</a:t>
            </a:r>
          </a:p>
          <a:p>
            <a:pPr>
              <a:spcAft>
                <a:spcPts val="800"/>
              </a:spcAft>
            </a:pPr>
            <a:r>
              <a:rPr sz="1320" b="0">
                <a:solidFill>
                  <a:srgbClr val="232B38"/>
                </a:solidFill>
                <a:latin typeface="Aptos"/>
              </a:rPr>
              <a:t>• Delta combina Parquet y transaction log.</a:t>
            </a:r>
          </a:p>
          <a:p>
            <a:pPr>
              <a:spcAft>
                <a:spcPts val="800"/>
              </a:spcAft>
            </a:pPr>
            <a:r>
              <a:rPr sz="1320" b="0">
                <a:solidFill>
                  <a:srgbClr val="232B38"/>
                </a:solidFill>
                <a:latin typeface="Aptos"/>
              </a:rPr>
              <a:t>• Files conserva; Tables sirve.</a:t>
            </a:r>
          </a:p>
          <a:p>
            <a:pPr>
              <a:spcAft>
                <a:spcPts val="800"/>
              </a:spcAft>
            </a:pPr>
            <a:r>
              <a:rPr sz="1320" b="0">
                <a:solidFill>
                  <a:srgbClr val="232B38"/>
                </a:solidFill>
                <a:latin typeface="Aptos"/>
              </a:rPr>
              <a:t>• Shortcut referencia; Mirroring replica; la carga copia.</a:t>
            </a:r>
          </a:p>
          <a:p>
            <a:pPr>
              <a:spcAft>
                <a:spcPts val="800"/>
              </a:spcAft>
            </a:pPr>
            <a:r>
              <a:rPr sz="1320" b="0">
                <a:solidFill>
                  <a:srgbClr val="232B38"/>
                </a:solidFill>
                <a:latin typeface="Aptos"/>
              </a:rPr>
              <a:t>• Toda decisión necesita riesgo y validación.</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Resultado: una estrategia de datos defendible para Ventas 360.</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6_f2672dd3.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Get data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oficial DP-600</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TAREA</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Evidencia antes de la sesión 4</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Actualizar la arquitectura y documentar las decisiones.</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Cada participante incorporará OneLake y la estrategia de acceso en su diagrama acumulativo. La entrega debe mostrar fuentes, método, destino y una justificación. También debe anticipar qué tablas serán necesarias para el modelo dimensional de la próxima sesión.</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Actualizar el diagrama end-to-end.</a:t>
            </a:r>
          </a:p>
          <a:p>
            <a:pPr>
              <a:spcAft>
                <a:spcPts val="800"/>
              </a:spcAft>
            </a:pPr>
            <a:r>
              <a:rPr sz="1320" b="0">
                <a:solidFill>
                  <a:srgbClr val="232B38"/>
                </a:solidFill>
                <a:latin typeface="Aptos"/>
              </a:rPr>
              <a:t>• Completar la matriz de las tres fuentes.</a:t>
            </a:r>
          </a:p>
          <a:p>
            <a:pPr>
              <a:spcAft>
                <a:spcPts val="800"/>
              </a:spcAft>
            </a:pPr>
            <a:r>
              <a:rPr sz="1320" b="0">
                <a:solidFill>
                  <a:srgbClr val="232B38"/>
                </a:solidFill>
                <a:latin typeface="Aptos"/>
              </a:rPr>
              <a:t>• Definir las tablas finales de ventas, clientes y productos.</a:t>
            </a:r>
          </a:p>
          <a:p>
            <a:pPr>
              <a:spcAft>
                <a:spcPts val="800"/>
              </a:spcAft>
            </a:pPr>
            <a:r>
              <a:rPr sz="1320" b="0">
                <a:solidFill>
                  <a:srgbClr val="232B38"/>
                </a:solidFill>
                <a:latin typeface="Aptos"/>
              </a:rPr>
              <a:t>• Publicar una reflexión sin credenciales ni datos sensibles.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#MicrosoftFabric #PowerBI #DP600 #DataDays #MicrosoftLearn</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7_0b996eaf.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Prepare data · Apply learning</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oficial DP-600</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
            <a:ext cx="10789920" cy="219456"/>
          </a:xfrm>
          <a:prstGeom prst="rect">
            <a:avLst/>
          </a:prstGeom>
          <a:noFill/>
        </p:spPr>
        <p:txBody>
          <a:bodyPr wrap="square" lIns="0" rIns="0" tIns="0" bIns="0">
            <a:normAutofit/>
          </a:bodyPr>
          <a:lstStyle/>
          <a:p>
            <a:r>
              <a:rPr sz="900" b="1">
                <a:solidFill>
                  <a:srgbClr val="00788C"/>
                </a:solidFill>
                <a:latin typeface="Aptos"/>
              </a:rPr>
              <a:t>PRÓXIMA SESIÓN</a:t>
            </a:r>
          </a:p>
        </p:txBody>
      </p:sp>
      <p:sp>
        <p:nvSpPr>
          <p:cNvPr id="3" name="TextBox 2"/>
          <p:cNvSpPr txBox="1"/>
          <p:nvPr/>
        </p:nvSpPr>
        <p:spPr>
          <a:xfrm>
            <a:off x="566928" y="475488"/>
            <a:ext cx="10835640" cy="530352"/>
          </a:xfrm>
          <a:prstGeom prst="rect">
            <a:avLst/>
          </a:prstGeom>
          <a:noFill/>
        </p:spPr>
        <p:txBody>
          <a:bodyPr wrap="square" lIns="0" rIns="0" tIns="0" bIns="0">
            <a:normAutofit/>
          </a:bodyPr>
          <a:lstStyle/>
          <a:p>
            <a:r>
              <a:rPr sz="2400" b="1">
                <a:solidFill>
                  <a:srgbClr val="142640"/>
                </a:solidFill>
                <a:latin typeface="Aptos"/>
              </a:rPr>
              <a:t>Sesión 4 · Warehouse y modelo dimensional</a:t>
            </a:r>
          </a:p>
        </p:txBody>
      </p:sp>
      <p:sp>
        <p:nvSpPr>
          <p:cNvPr id="4" name="TextBox 3"/>
          <p:cNvSpPr txBox="1"/>
          <p:nvPr/>
        </p:nvSpPr>
        <p:spPr>
          <a:xfrm>
            <a:off x="585216" y="1024128"/>
            <a:ext cx="10698480" cy="274320"/>
          </a:xfrm>
          <a:prstGeom prst="rect">
            <a:avLst/>
          </a:prstGeom>
          <a:noFill/>
        </p:spPr>
        <p:txBody>
          <a:bodyPr wrap="square" lIns="0" rIns="0" tIns="0" bIns="0">
            <a:normAutofit/>
          </a:bodyPr>
          <a:lstStyle/>
          <a:p>
            <a:r>
              <a:rPr sz="1150" b="0">
                <a:solidFill>
                  <a:srgbClr val="55606E"/>
                </a:solidFill>
                <a:latin typeface="Aptos"/>
              </a:rPr>
              <a:t>De datos accesibles a hechos, dimensiones y una capa preparada para negocio.</a:t>
            </a:r>
          </a:p>
        </p:txBody>
      </p:sp>
      <p:sp>
        <p:nvSpPr>
          <p:cNvPr id="5" name="Rectangle 4"/>
          <p:cNvSpPr/>
          <p:nvPr/>
        </p:nvSpPr>
        <p:spPr>
          <a:xfrm>
            <a:off x="566928" y="1408176"/>
            <a:ext cx="11045952" cy="32004"/>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719072"/>
            <a:ext cx="5486400" cy="1344168"/>
          </a:xfrm>
          <a:prstGeom prst="rect">
            <a:avLst/>
          </a:prstGeom>
          <a:noFill/>
        </p:spPr>
        <p:txBody>
          <a:bodyPr wrap="square" lIns="0" rIns="0" tIns="0" bIns="0">
            <a:normAutofit/>
          </a:bodyPr>
          <a:lstStyle/>
          <a:p>
            <a:r>
              <a:rPr sz="1600" b="0">
                <a:solidFill>
                  <a:srgbClr val="232B38"/>
                </a:solidFill>
                <a:latin typeface="Aptos"/>
              </a:rPr>
              <a:t>La próxima sesión decidirá cuándo utilizar Warehouse, Lakehouse o una arquitectura híbrida. El caso Ventas 360 definirá el grano de la tabla de hechos, dimensiones, claves y una primera estructura estrella que posteriormente alimentará el modelo semántico.</a:t>
            </a:r>
          </a:p>
        </p:txBody>
      </p:sp>
      <p:sp>
        <p:nvSpPr>
          <p:cNvPr id="7" name="TextBox 6"/>
          <p:cNvSpPr txBox="1"/>
          <p:nvPr/>
        </p:nvSpPr>
        <p:spPr>
          <a:xfrm>
            <a:off x="713232" y="3236976"/>
            <a:ext cx="5440680" cy="2057400"/>
          </a:xfrm>
          <a:prstGeom prst="rect">
            <a:avLst/>
          </a:prstGeom>
          <a:noFill/>
        </p:spPr>
        <p:txBody>
          <a:bodyPr wrap="square" lIns="0" rIns="0" tIns="0" bIns="0">
            <a:normAutofit/>
          </a:bodyPr>
          <a:lstStyle/>
          <a:p>
            <a:pPr>
              <a:spcAft>
                <a:spcPts val="800"/>
              </a:spcAft>
            </a:pPr>
            <a:r>
              <a:rPr sz="1320" b="0">
                <a:solidFill>
                  <a:srgbClr val="232B38"/>
                </a:solidFill>
                <a:latin typeface="Aptos"/>
              </a:rPr>
              <a:t>• Lakehouse frente a Warehouse.</a:t>
            </a:r>
          </a:p>
          <a:p>
            <a:pPr>
              <a:spcAft>
                <a:spcPts val="800"/>
              </a:spcAft>
            </a:pPr>
            <a:r>
              <a:rPr sz="1320" b="0">
                <a:solidFill>
                  <a:srgbClr val="232B38"/>
                </a:solidFill>
                <a:latin typeface="Aptos"/>
              </a:rPr>
              <a:t>• Tabla de hechos y dimensiones.</a:t>
            </a:r>
          </a:p>
          <a:p>
            <a:pPr>
              <a:spcAft>
                <a:spcPts val="800"/>
              </a:spcAft>
            </a:pPr>
            <a:r>
              <a:rPr sz="1320" b="0">
                <a:solidFill>
                  <a:srgbClr val="232B38"/>
                </a:solidFill>
                <a:latin typeface="Aptos"/>
              </a:rPr>
              <a:t>• Star schema y grano.</a:t>
            </a:r>
          </a:p>
          <a:p>
            <a:pPr>
              <a:spcAft>
                <a:spcPts val="800"/>
              </a:spcAft>
            </a:pPr>
            <a:r>
              <a:rPr sz="1320" b="0">
                <a:solidFill>
                  <a:srgbClr val="232B38"/>
                </a:solidFill>
                <a:latin typeface="Aptos"/>
              </a:rPr>
              <a:t>• Cargas full e incrementales.</a:t>
            </a:r>
          </a:p>
        </p:txBody>
      </p:sp>
      <p:sp>
        <p:nvSpPr>
          <p:cNvPr id="8" name="Rounded Rectangle 7"/>
          <p:cNvSpPr/>
          <p:nvPr/>
        </p:nvSpPr>
        <p:spPr>
          <a:xfrm>
            <a:off x="694944" y="5449824"/>
            <a:ext cx="5431536" cy="448056"/>
          </a:xfrm>
          <a:prstGeom prst="roundRect">
            <a:avLst/>
          </a:prstGeom>
          <a:solidFill>
            <a:srgbClr val="EFF7F0"/>
          </a:solidFill>
          <a:ln>
            <a:solidFill>
              <a:srgbClr val="B7DD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559552"/>
            <a:ext cx="5084064" cy="182880"/>
          </a:xfrm>
          <a:prstGeom prst="rect">
            <a:avLst/>
          </a:prstGeom>
          <a:noFill/>
        </p:spPr>
        <p:txBody>
          <a:bodyPr wrap="square" lIns="0" rIns="0" tIns="0" bIns="0">
            <a:normAutofit/>
          </a:bodyPr>
          <a:lstStyle/>
          <a:p>
            <a:r>
              <a:rPr sz="950" b="1">
                <a:solidFill>
                  <a:srgbClr val="227D5B"/>
                </a:solidFill>
                <a:latin typeface="Aptos"/>
              </a:rPr>
              <a:t>Miércoles 15 de julio de 2026 · Sesión 4.</a:t>
            </a:r>
          </a:p>
        </p:txBody>
      </p:sp>
      <p:sp>
        <p:nvSpPr>
          <p:cNvPr id="10" name="Rounded Rectangle 9"/>
          <p:cNvSpPr/>
          <p:nvPr/>
        </p:nvSpPr>
        <p:spPr>
          <a:xfrm>
            <a:off x="6565392" y="1709928"/>
            <a:ext cx="4736592" cy="4224528"/>
          </a:xfrm>
          <a:prstGeom prst="roundRect">
            <a:avLst/>
          </a:prstGeom>
          <a:solidFill>
            <a:srgbClr val="FFFFFF"/>
          </a:solidFill>
          <a:ln>
            <a:solidFill>
              <a:srgbClr val="D8E1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58_60c7b9b6.png">
            <a:hlinkClick r:id="rId3"/>
          </p:cNvPr>
          <p:cNvPicPr>
            <a:picLocks noChangeAspect="1"/>
          </p:cNvPicPr>
          <p:nvPr/>
        </p:nvPicPr>
        <p:blipFill>
          <a:blip r:embed="rId2"/>
          <a:stretch>
            <a:fillRect/>
          </a:stretch>
        </p:blipFill>
        <p:spPr>
          <a:xfrm>
            <a:off x="6711696" y="2279468"/>
            <a:ext cx="4443984" cy="2856846"/>
          </a:xfrm>
          <a:prstGeom prst="rect">
            <a:avLst/>
          </a:prstGeom>
        </p:spPr>
      </p:pic>
      <p:sp>
        <p:nvSpPr>
          <p:cNvPr id="12" name="TextBox 11">
            <a:hlinkClick r:id="rId3"/>
          </p:cNvPr>
          <p:cNvSpPr txBox="1"/>
          <p:nvPr/>
        </p:nvSpPr>
        <p:spPr>
          <a:xfrm>
            <a:off x="6766560" y="5632704"/>
            <a:ext cx="4297680" cy="164592"/>
          </a:xfrm>
          <a:prstGeom prst="rect">
            <a:avLst/>
          </a:prstGeom>
          <a:noFill/>
        </p:spPr>
        <p:txBody>
          <a:bodyPr wrap="square" lIns="0" rIns="0" tIns="0" bIns="0">
            <a:normAutofit/>
          </a:bodyPr>
          <a:lstStyle/>
          <a:p>
            <a:pPr algn="ctr"/>
            <a:r>
              <a:rPr sz="700" b="0">
                <a:solidFill>
                  <a:srgbClr val="55606E"/>
                </a:solidFill>
                <a:latin typeface="Aptos"/>
                <a:hlinkClick r:id="rId3"/>
              </a:rPr>
              <a:t>Visual didáctico basado en Microsoft Learn</a:t>
            </a:r>
          </a:p>
        </p:txBody>
      </p:sp>
      <p:sp>
        <p:nvSpPr>
          <p:cNvPr id="13" name="Rectangle 12"/>
          <p:cNvSpPr/>
          <p:nvPr/>
        </p:nvSpPr>
        <p:spPr>
          <a:xfrm>
            <a:off x="530352" y="6236208"/>
            <a:ext cx="11119104" cy="402336"/>
          </a:xfrm>
          <a:prstGeom prst="rect">
            <a:avLst/>
          </a:prstGeom>
          <a:solidFill>
            <a:srgbClr val="EDF7F9"/>
          </a:solidFill>
          <a:ln>
            <a:solidFill>
              <a:srgbClr val="C9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6336792"/>
            <a:ext cx="3310128" cy="146304"/>
          </a:xfrm>
          <a:prstGeom prst="rect">
            <a:avLst/>
          </a:prstGeom>
          <a:noFill/>
        </p:spPr>
        <p:txBody>
          <a:bodyPr wrap="square" lIns="0" rIns="0" tIns="0" bIns="0">
            <a:normAutofit/>
          </a:bodyPr>
          <a:lstStyle/>
          <a:p>
            <a:r>
              <a:rPr sz="750" b="1">
                <a:solidFill>
                  <a:srgbClr val="142640"/>
                </a:solidFill>
                <a:latin typeface="Aptos"/>
              </a:rPr>
              <a:t>DP-600 · Transform data · Implement star schema</a:t>
            </a:r>
          </a:p>
        </p:txBody>
      </p:sp>
      <p:sp>
        <p:nvSpPr>
          <p:cNvPr id="15" name="TextBox 14">
            <a:hlinkClick r:id="rId3"/>
          </p:cNvPr>
          <p:cNvSpPr txBox="1"/>
          <p:nvPr/>
        </p:nvSpPr>
        <p:spPr>
          <a:xfrm>
            <a:off x="3886200" y="6336792"/>
            <a:ext cx="6720840" cy="146304"/>
          </a:xfrm>
          <a:prstGeom prst="rect">
            <a:avLst/>
          </a:prstGeom>
          <a:noFill/>
        </p:spPr>
        <p:txBody>
          <a:bodyPr wrap="square" lIns="0" rIns="0" tIns="0" bIns="0">
            <a:normAutofit/>
          </a:bodyPr>
          <a:lstStyle/>
          <a:p>
            <a:r>
              <a:rPr sz="710" b="0">
                <a:solidFill>
                  <a:srgbClr val="00788C"/>
                </a:solidFill>
                <a:latin typeface="Aptos"/>
                <a:hlinkClick r:id="rId3"/>
              </a:rPr>
              <a:t>Microsoft Learn · Guía oficial DP-600</a:t>
            </a:r>
          </a:p>
        </p:txBody>
      </p:sp>
      <p:sp>
        <p:nvSpPr>
          <p:cNvPr id="16" name="TextBox 15"/>
          <p:cNvSpPr txBox="1"/>
          <p:nvPr/>
        </p:nvSpPr>
        <p:spPr>
          <a:xfrm>
            <a:off x="11045952" y="6318504"/>
            <a:ext cx="384048" cy="164592"/>
          </a:xfrm>
          <a:prstGeom prst="rect">
            <a:avLst/>
          </a:prstGeom>
          <a:noFill/>
        </p:spPr>
        <p:txBody>
          <a:bodyPr wrap="square" lIns="0" rIns="0" tIns="0" bIns="0">
            <a:normAutofit/>
          </a:bodyPr>
          <a:lstStyle/>
          <a:p>
            <a:pPr algn="r"/>
            <a:r>
              <a:rPr sz="800" b="1">
                <a:solidFill>
                  <a:srgbClr val="142640"/>
                </a:solidFill>
                <a:latin typeface="Aptos"/>
              </a:rPr>
              <a:t>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
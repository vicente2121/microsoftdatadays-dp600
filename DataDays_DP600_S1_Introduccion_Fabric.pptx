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0"/>
          </a:solidFill>
          <a:ln>
            <a:solidFill>
              <a:srgbClr val="14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Bienvenida, DP-600 e introduccion a Microsoft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38528"/>
            <a:ext cx="96926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FFFFFF"/>
                </a:solidFill>
                <a:latin typeface="Aptos"/>
              </a:rPr>
              <a:t>De la vision de plataforma al primer diseno de arquitectura analitica.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440680"/>
            <a:ext cx="10058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Sesion 1 | Jueves 25 de junio de 2026 | 90 minutos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0936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ptos"/>
              </a:rPr>
              <a:t>Microsoft Data Days 2026 | Preparacion comunitaria DP-600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Objetivo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8626E"/>
                </a:solidFill>
                <a:latin typeface="Aptos"/>
              </a:rPr>
              <a:t>Que debe poder explicar y aplicar el participante al terminar.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73152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Entender el objetivo del Study Group y como se conectan las 7 sesiones.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Explicar que evalua DP-600 y que hace un Fabric Analytics Engineer.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Identificar los componentes principales de Microsoft Fabric.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Construir una primera vision de solucion con fuentes, ingesta, almacenamiento, modelo y reporte.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737360"/>
            <a:ext cx="3246120" cy="4343400"/>
          </a:xfrm>
          <a:prstGeom prst="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1965960"/>
            <a:ext cx="2788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0788C"/>
                </a:solidFill>
                <a:latin typeface="Aptos"/>
              </a:rPr>
              <a:t>Resultado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8" y="2487168"/>
            <a:ext cx="2788920" cy="3246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Mapa mental de Fabric.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Primer diagrama end-to-end.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Lenguaje comun para el resto del bootcamp.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ALINEACION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Mapa con DP-600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0835640" cy="411480"/>
          </a:xfrm>
          <a:prstGeom prst="rect">
            <a:avLst/>
          </a:prstGeom>
          <a:solidFill>
            <a:srgbClr val="142640"/>
          </a:solidFill>
          <a:ln>
            <a:solidFill>
              <a:srgbClr val="14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73936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Dominio DP-600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773936"/>
            <a:ext cx="7726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Cobertura en esta sesion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67128"/>
            <a:ext cx="2926080" cy="548640"/>
          </a:xfrm>
          <a:prstGeom prst="rect">
            <a:avLst/>
          </a:prstGeom>
          <a:solidFill>
            <a:srgbClr val="F4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2167128"/>
            <a:ext cx="7909560" cy="548640"/>
          </a:xfrm>
          <a:prstGeom prst="rect">
            <a:avLst/>
          </a:prstGeom>
          <a:solidFill>
            <a:srgbClr val="F4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142640"/>
                </a:solidFill>
                <a:latin typeface="Aptos"/>
              </a:rPr>
              <a:t>Prepare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240280"/>
            <a:ext cx="7680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20262E"/>
                </a:solidFill>
                <a:latin typeface="Aptos"/>
              </a:rPr>
              <a:t>Vision inicial de ingesta, almacenamiento y transformacion en Fabric.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79776"/>
            <a:ext cx="2926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2779776"/>
            <a:ext cx="79095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62072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142640"/>
                </a:solidFill>
                <a:latin typeface="Aptos"/>
              </a:rPr>
              <a:t>Maintain analytics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852928"/>
            <a:ext cx="7680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20262E"/>
                </a:solidFill>
                <a:latin typeface="Aptos"/>
              </a:rPr>
              <a:t>Comprension de roles, gobierno general y organizacion del trabajo.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92424"/>
            <a:ext cx="2926080" cy="548640"/>
          </a:xfrm>
          <a:prstGeom prst="rect">
            <a:avLst/>
          </a:prstGeom>
          <a:solidFill>
            <a:srgbClr val="F4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3392424"/>
            <a:ext cx="7909560" cy="548640"/>
          </a:xfrm>
          <a:prstGeom prst="rect">
            <a:avLst/>
          </a:prstGeom>
          <a:solidFill>
            <a:srgbClr val="F4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142640"/>
                </a:solidFill>
                <a:latin typeface="Aptos"/>
              </a:rPr>
              <a:t>Semantic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465576"/>
            <a:ext cx="7680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20262E"/>
                </a:solidFill>
                <a:latin typeface="Aptos"/>
              </a:rPr>
              <a:t>Introduccion al consumo por modelos semanticos y Power BI.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ESTRUCTURA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Agenda de 90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8626E"/>
                </a:solidFill>
                <a:latin typeface="Aptos"/>
              </a:rPr>
              <a:t>Ritmo recomendado para mantener foco, practica y participacion.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10835640" cy="530352"/>
          </a:xfrm>
          <a:prstGeom prst="rect">
            <a:avLst/>
          </a:prstGeom>
          <a:solidFill>
            <a:srgbClr val="00788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914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0-5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773936"/>
            <a:ext cx="2194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Apertura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773936"/>
            <a:ext cx="68580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ptos"/>
              </a:rPr>
              <a:t>Objetivo del dia y conexion con la sesion anterior.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04872"/>
            <a:ext cx="10835640" cy="530352"/>
          </a:xfrm>
          <a:prstGeom prst="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496312"/>
            <a:ext cx="914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00788C"/>
                </a:solidFill>
                <a:latin typeface="Aptos"/>
              </a:rPr>
              <a:t>5-25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487168"/>
            <a:ext cx="2194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42640"/>
                </a:solidFill>
                <a:latin typeface="Aptos"/>
              </a:rPr>
              <a:t>Concepto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487168"/>
            <a:ext cx="68580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20262E"/>
                </a:solidFill>
                <a:latin typeface="Aptos"/>
              </a:rPr>
              <a:t>Explicacion clara de los fundamentos del tema.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18104"/>
            <a:ext cx="10835640" cy="530352"/>
          </a:xfrm>
          <a:prstGeom prst="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209544"/>
            <a:ext cx="914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00788C"/>
                </a:solidFill>
                <a:latin typeface="Aptos"/>
              </a:rPr>
              <a:t>25-50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3200400"/>
            <a:ext cx="2194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42640"/>
                </a:solidFill>
                <a:latin typeface="Aptos"/>
              </a:rPr>
              <a:t>Profundidad DP-600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00400"/>
            <a:ext cx="68580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20262E"/>
                </a:solidFill>
                <a:latin typeface="Aptos"/>
              </a:rPr>
              <a:t>Puntos evaluables, decisiones tecnicas y buenas practicas.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31336"/>
            <a:ext cx="10835640" cy="530352"/>
          </a:xfrm>
          <a:prstGeom prst="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922776"/>
            <a:ext cx="914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00788C"/>
                </a:solidFill>
                <a:latin typeface="Aptos"/>
              </a:rPr>
              <a:t>50-65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3913632"/>
            <a:ext cx="2194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42640"/>
                </a:solidFill>
                <a:latin typeface="Aptos"/>
              </a:rPr>
              <a:t>Demo o ejemplo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913632"/>
            <a:ext cx="68580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20262E"/>
                </a:solidFill>
                <a:latin typeface="Aptos"/>
              </a:rPr>
              <a:t>Aplicacion guiada en Fabric, SQL, DAX, KQL o arquitectura.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544568"/>
            <a:ext cx="10835640" cy="530352"/>
          </a:xfrm>
          <a:prstGeom prst="rect">
            <a:avLst/>
          </a:prstGeom>
          <a:solidFill>
            <a:srgbClr val="00788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636008"/>
            <a:ext cx="914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65-85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626864"/>
            <a:ext cx="2194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Caso practico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626864"/>
            <a:ext cx="68580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ptos"/>
              </a:rPr>
              <a:t>Actividad acumulativa que produce un entregable.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257800"/>
            <a:ext cx="10835640" cy="530352"/>
          </a:xfrm>
          <a:prstGeom prst="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5349240"/>
            <a:ext cx="914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00788C"/>
                </a:solidFill>
                <a:latin typeface="Aptos"/>
              </a:rPr>
              <a:t>85-90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20" y="5340096"/>
            <a:ext cx="2194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42640"/>
                </a:solidFill>
                <a:latin typeface="Aptos"/>
              </a:rPr>
              <a:t>Cierre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340096"/>
            <a:ext cx="68580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20262E"/>
                </a:solidFill>
                <a:latin typeface="Aptos"/>
              </a:rPr>
              <a:t>Mini quiz, tarea y evidencia publicable.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Material de referencia para preparar la sesion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0835640" cy="411480"/>
          </a:xfrm>
          <a:prstGeom prst="rect">
            <a:avLst/>
          </a:prstGeom>
          <a:solidFill>
            <a:srgbClr val="142640"/>
          </a:solidFill>
          <a:ln>
            <a:solidFill>
              <a:srgbClr val="14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73936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Fuente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773936"/>
            <a:ext cx="7726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Uso recomendado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67128"/>
            <a:ext cx="2926080" cy="548640"/>
          </a:xfrm>
          <a:prstGeom prst="rect">
            <a:avLst/>
          </a:prstGeom>
          <a:solidFill>
            <a:srgbClr val="F4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2167128"/>
            <a:ext cx="7909560" cy="548640"/>
          </a:xfrm>
          <a:prstGeom prst="rect">
            <a:avLst/>
          </a:prstGeom>
          <a:solidFill>
            <a:srgbClr val="F4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142640"/>
                </a:solidFill>
                <a:latin typeface="Aptos"/>
              </a:rPr>
              <a:t>Cronograma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240280"/>
            <a:ext cx="7680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20262E"/>
                </a:solidFill>
                <a:latin typeface="Aptos"/>
              </a:rPr>
              <a:t>Usarlo para presentar fechas, normas, formato y estructura de 90 minutos.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79776"/>
            <a:ext cx="2926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2779776"/>
            <a:ext cx="79095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62072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142640"/>
                </a:solidFill>
                <a:latin typeface="Aptos"/>
              </a:rPr>
              <a:t>Plan simplificado 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852928"/>
            <a:ext cx="7680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20262E"/>
                </a:solidFill>
                <a:latin typeface="Aptos"/>
              </a:rPr>
              <a:t>Tomar el caso practico y la dinamica de publicacion en LinkedIn.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92424"/>
            <a:ext cx="2926080" cy="548640"/>
          </a:xfrm>
          <a:prstGeom prst="rect">
            <a:avLst/>
          </a:prstGeom>
          <a:solidFill>
            <a:srgbClr val="F4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3392424"/>
            <a:ext cx="7909560" cy="548640"/>
          </a:xfrm>
          <a:prstGeom prst="rect">
            <a:avLst/>
          </a:prstGeom>
          <a:solidFill>
            <a:srgbClr val="F4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142640"/>
                </a:solidFill>
                <a:latin typeface="Aptos"/>
              </a:rPr>
              <a:t>PPT Session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465576"/>
            <a:ext cx="7680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20262E"/>
                </a:solidFill>
                <a:latin typeface="Aptos"/>
              </a:rPr>
              <a:t>Usar como referencia interna para Fabric, Lakehouse, Dataflows, Pipelines y Spark.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005072"/>
            <a:ext cx="29260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11880" y="4005072"/>
            <a:ext cx="79095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8736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142640"/>
                </a:solidFill>
                <a:latin typeface="Aptos"/>
              </a:rPr>
              <a:t>Bootcamp O'Reilly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078224"/>
            <a:ext cx="7680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20262E"/>
                </a:solidFill>
                <a:latin typeface="Aptos"/>
              </a:rPr>
              <a:t>Tomar el enfoque del rol Analytics Engineer y los resultados esperados.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51560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142640"/>
                </a:solidFill>
                <a:latin typeface="Aptos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017520"/>
            <a:ext cx="98755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58626E"/>
                </a:solidFill>
                <a:latin typeface="Aptos"/>
              </a:rPr>
              <a:t>Arrancar con claridad: por que existe el grupo, que se espera y como se aprende.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Proposito del Study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73152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Preparar a la comunidad para entender e implementar soluciones analiticas con Microsoft Fabric.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Convertir conceptos de DP-600 en decisiones practicas.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Construir un proyecto acumulativo sencillo, explicable y publicable.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Practicar la comunicacion profesional: que decido, por que lo decido y que valor aporta.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737360"/>
            <a:ext cx="3246120" cy="4343400"/>
          </a:xfrm>
          <a:prstGeom prst="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0768" y="1965960"/>
            <a:ext cx="2788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0788C"/>
                </a:solidFill>
                <a:latin typeface="Aptos"/>
              </a:rPr>
              <a:t>Mensaje clave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0768" y="2487168"/>
            <a:ext cx="2788920" cy="3246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No es solo teoria.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Cada sesion deja una evidencia.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Como funcionara la ruta de 7 sesiones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Cada sesion cubre un bloque tecnico y lo conecta con el examen.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El caso practico crece semana a semana.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El cierre incluye mini quiz, tarea y publicacion opcional en LinkedIn.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La comunidad pregunta, compara decisiones y mejora sus entregables.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Normas operativas de la comunidad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Entrar puntual y con micro en silencio.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Preguntas cortas por chat y preguntas largas levantando la mano.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No compartir credenciales, datos reales ni informacion confidencial.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Usar el canal del grupo para dudas entre sesiones.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Mantener respeto, foco y ambiente colaborativo.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51560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142640"/>
                </a:solidFill>
                <a:latin typeface="Aptos"/>
              </a:rPr>
              <a:t>rol analytics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017520"/>
            <a:ext cx="98755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58626E"/>
                </a:solidFill>
                <a:latin typeface="Aptos"/>
              </a:rPr>
              <a:t>Alinear expectativas: DP-600 no mide solo Power BI, mide soluciones analiticas.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ROL ANALYTICS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Que es un Fabric Analytics Engineer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73152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Disena, crea y mantiene activos analiticos como lakehouses, warehouses y modelos semanticos.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Prepara y enriquece datos para consumidores analiticos.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Colabora con negocio, arquitectos, analistas, ingenieros y administradores.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Debe poder consultar y analizar con SQL, KQL y DAX.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737360"/>
            <a:ext cx="3246120" cy="4343400"/>
          </a:xfrm>
          <a:prstGeom prst="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0768" y="1965960"/>
            <a:ext cx="2788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0788C"/>
                </a:solidFill>
                <a:latin typeface="Aptos"/>
              </a:rPr>
              <a:t>En DP-600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0768" y="2487168"/>
            <a:ext cx="2788920" cy="3246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La clave es justificar decisiones.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No basta con saber donde hacer clic.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ROL ANALYTICS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Diferencia entre perfiles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Data Analyst: interpreta datos, crea reportes, medidas y visuales para decision.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Data Engineer: orquesta, transforma y optimiza pipelines y plataformas de datos.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Analytics Engineer: conecta preparacion, modelado, seguridad y consumo analitico.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Data Scientist: experimenta, entrena modelos y aplica analitica avanzada.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Data Steward: cuida gobierno, definiciones, calidad y uso correcto de 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ROL ANALYTICS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Que responsabilidades mide DP-600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Preparar datos: conectar, transformar, consultar y servir informacion.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Mantener la solucion: seguridad, gobierno, ciclo de vida y dependencias.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Implementar modelos semanticos: relaciones, DAX, Direct Lake, rendimiento y escalabilidad.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Comunicar decisiones tecnicas en escenarios de negocio.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51560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142640"/>
                </a:solidFill>
                <a:latin typeface="Aptos"/>
              </a:rPr>
              <a:t>fabric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017520"/>
            <a:ext cx="98755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58626E"/>
                </a:solidFill>
                <a:latin typeface="Aptos"/>
              </a:rPr>
              <a:t>Entender Fabric como plataforma SaaS unificada para datos y analitica.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FABRIC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Microsoft Fabric en una frase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Fabric integra movimiento de datos, ingenieria, warehouse, ciencia de datos, analitica en tiempo real y Power BI.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La experiencia es SaaS y se organiza alrededor de workspaces e items.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OneLake funciona como base de almacenamiento unificada.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El objetivo es reducir copias, simplificar gobierno y acelerar consumo analitico.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FABRIC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Componentes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Data Factory: integracion, Dataflows Gen2, Pipelines y movimiento de datos.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Data Engineering: notebooks, Spark y transformacion a escala.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Data Warehouse: T-SQL, modelo relacional y consultas analiticas.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Real-Time Intelligence: Eventhouse, KQL Database, KQL Queryset y analisis en tiempo real.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Power BI: modelos semanticos, reportes, consumo y decisiones.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FABRIC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OneLake y OneCopy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OneLake es el almacenamiento logico unificado de Fabric.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Cada workspace organiza sus datos dentro de OneLake.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OneCopy busca leer desde una unica copia logica cuando sea posible.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Shortcuts permiten referenciar datos sin duplicarlos fisicamente.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Este concepto es central para explicar arquitecturas Fabric.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FABRIC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Como se conectan las piezas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Las fuentes alimentan OneLake mediante carga, shortcut, mirroring o ingesta.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Lakehouse y Warehouse preparan datos para consumo analitico.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Modelos semanticos definen relaciones, medidas y logica de negocio.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Power BI entrega reportes y experiencia de decision.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Seguridad, lineage, endorsement y ciclo de vida rodean toda la solucion.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51560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142640"/>
                </a:solidFill>
                <a:latin typeface="Aptos"/>
              </a:rPr>
              <a:t>primer diseno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017520"/>
            <a:ext cx="98755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58626E"/>
                </a:solidFill>
                <a:latin typeface="Aptos"/>
              </a:rPr>
              <a:t>Pasar de componentes sueltos a una arquitectura simple de negocio.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PRIMER DISENO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Escenario conductor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Una organizacion quiere analizar ventas, clientes, productos y actividad operacional.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Hay archivos historicos, una base SQL de operaciones y posiblemente eventos.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El negocio necesita KPIs, tendencias y capacidad de autoservicio controlado.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El equipo debe decidir donde ingestar, preparar, modelar, asegurar y publicar.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PRIMER DISENO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Preguntas para disenar la primera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De donde vienen los datos?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Se deben copiar, referenciar o replicar?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El consumo sera relacional, Spark, tiempo real o Power BI?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Que datos necesitan seguridad especial?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Que salida espera negocio: reporte, modelo compartido, dataset o consulta?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PRIMER DISENO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Plantilla de arquitectura inicial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Fuente: CSV, SQL, API, carpeta cloud o eventos.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Ingesta: Dataflow Gen2, Pipeline, Notebook, shortcut o mirroring.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Almacenamiento: Lakehouse, Warehouse o Eventhouse.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Transformacion: Power Query, Spark, T-SQL o KQL.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Consumo: semantic model, reporte Power BI o consulta directa.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PRACTICA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Caso practico de la sesion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8626E"/>
                </a:solidFill>
                <a:latin typeface="Aptos"/>
              </a:rPr>
              <a:t>Disenar una vision simple de solucion Fabric para ventas, clientes y productos.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73152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Elegir una fuente de datos principal y una secundaria.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Decidir como entran a Fabric: carga, shortcut o mirroring.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Ubicar el almacenamiento inicial: Lakehouse, Warehouse o ambos.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Indicar una transformacion minima necesaria.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Definir como se consumira el resultado desde Power BI.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Explicar el valor de negocio en una frase.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737360"/>
            <a:ext cx="3246120" cy="4343400"/>
          </a:xfrm>
          <a:prstGeom prst="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1965960"/>
            <a:ext cx="2788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0788C"/>
                </a:solidFill>
                <a:latin typeface="Aptos"/>
              </a:rPr>
              <a:t>Entregable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8" y="2487168"/>
            <a:ext cx="2788920" cy="3246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Diagrama simple end-to-end.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Lista de componentes Fabric usados.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Una decision tecnica justificada.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Una frase de valor de negocio.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EVALUACION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Mini quiz de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8626E"/>
                </a:solidFill>
                <a:latin typeface="Aptos"/>
              </a:rPr>
              <a:t>Usar estas preguntas para validar comprension antes de cerrar.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73152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Que problema resuelve Microsoft Fabric?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Que rol cumple OneLake en la arquitectura?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Que diferencia hay entre Data Analyst y Analytics Engineer?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Por que DP-600 exige criterio de arquitectura?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Que componente usarias para consumo de negocio en Power BI?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737360"/>
            <a:ext cx="3246120" cy="4343400"/>
          </a:xfrm>
          <a:prstGeom prst="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1965960"/>
            <a:ext cx="2788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0788C"/>
                </a:solidFill>
                <a:latin typeface="Aptos"/>
              </a:rPr>
              <a:t>Modo sugerido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8" y="2487168"/>
            <a:ext cx="2788920" cy="3246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Responder por chat o encuesta.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Comentar una respuesta incorrecta comun.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Cerrar con el concepto clave del examen.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TAREA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Tarea entre sesiones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8626E"/>
                </a:solidFill>
                <a:latin typeface="Aptos"/>
              </a:rPr>
              <a:t>Debe quedar lista antes de la siguiente reunion.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Refinar el diagrama inicial con nombres de componentes reales.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Listar que usuarios participaran en el proyecto y que rol tendrian.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Traer una pregunta tecnica sobre el diseno para discutir en la sesion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COMUNIDAD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Evidencia publicable en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8626E"/>
                </a:solidFill>
                <a:latin typeface="Aptos"/>
              </a:rPr>
              <a:t>La publicacion debe mostrar aprendizaje, decision tecnica y valor de negocio.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73152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Hoy en el Data Days Study Group DP-600 aprendi a: [concepto principal].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Lo aplique en: [decision tecnica o entregable].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El valor para negocio es: [resultado esperado].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Siguiente paso: [accion concreta para la proxima sesion].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No publicar credenciales, datos sensibles, rutas internas ni informacion confidencial.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737360"/>
            <a:ext cx="3246120" cy="4343400"/>
          </a:xfrm>
          <a:prstGeom prst="rect">
            <a:avLst/>
          </a:prstGeom>
          <a:solidFill>
            <a:srgbClr val="F4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1965960"/>
            <a:ext cx="2788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0788C"/>
                </a:solidFill>
                <a:latin typeface="Aptos"/>
              </a:rPr>
              <a:t>Hashtags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8" y="2487168"/>
            <a:ext cx="2788920" cy="3246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#MicrosoftFabric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#PowerBI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#DP600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#DataDays</a:t>
            </a:r>
          </a:p>
          <a:p>
            <a:pPr>
              <a:spcAft>
                <a:spcPts val="400"/>
              </a:spcAft>
              <a:defRPr sz="1200">
                <a:solidFill>
                  <a:srgbClr val="20262E"/>
                </a:solidFill>
                <a:latin typeface="Aptos"/>
              </a:defRPr>
            </a:pPr>
            <a:r>
              <a:t>#MicrosoftLearn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00788C"/>
                </a:solidFill>
                <a:latin typeface="Aptos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640"/>
                </a:solidFill>
                <a:latin typeface="Aptos"/>
              </a:rPr>
              <a:t>Cierre: que se llevan aprendido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58626E"/>
                </a:solidFill>
                <a:latin typeface="Aptos"/>
              </a:rPr>
              <a:t>Resumen para reforzar memoria y accion.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201400" cy="27432"/>
          </a:xfrm>
          <a:prstGeom prst="rect">
            <a:avLst/>
          </a:prstGeom>
          <a:solidFill>
            <a:srgbClr val="00788C"/>
          </a:solidFill>
          <a:ln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Explicar el objetivo de DP-600 y del grupo de estudio.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Reconocer los componentes base de Microsoft Fabric.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Ubicar OneLake como fundamento de almacenamiento.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Crear una primera arquitectura analitica simple.</a:t>
            </a:r>
          </a:p>
          <a:p>
            <a:pPr>
              <a:spcAft>
                <a:spcPts val="400"/>
              </a:spcAft>
              <a:defRPr sz="1500">
                <a:solidFill>
                  <a:srgbClr val="20262E"/>
                </a:solidFill>
                <a:latin typeface="Aptos"/>
              </a:defRPr>
            </a:pPr>
            <a:r>
              <a:t>Comunicar valor tecnico y valor de negocio.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58626E"/>
                </a:solidFill>
                <a:latin typeface="Aptos"/>
              </a:rPr>
              <a:t>Data Days Study Group DP-600 | Sesion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